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1" r:id="rId1"/>
  </p:sldMasterIdLst>
  <p:notesMasterIdLst>
    <p:notesMasterId r:id="rId42"/>
  </p:notesMasterIdLst>
  <p:handoutMasterIdLst>
    <p:handoutMasterId r:id="rId43"/>
  </p:handoutMasterIdLst>
  <p:sldIdLst>
    <p:sldId id="256" r:id="rId2"/>
    <p:sldId id="257" r:id="rId3"/>
    <p:sldId id="262" r:id="rId4"/>
    <p:sldId id="263" r:id="rId5"/>
    <p:sldId id="264" r:id="rId6"/>
    <p:sldId id="268" r:id="rId7"/>
    <p:sldId id="266" r:id="rId8"/>
    <p:sldId id="269" r:id="rId9"/>
    <p:sldId id="258" r:id="rId10"/>
    <p:sldId id="270" r:id="rId11"/>
    <p:sldId id="271" r:id="rId12"/>
    <p:sldId id="272" r:id="rId13"/>
    <p:sldId id="279" r:id="rId14"/>
    <p:sldId id="259" r:id="rId15"/>
    <p:sldId id="273" r:id="rId16"/>
    <p:sldId id="274" r:id="rId17"/>
    <p:sldId id="275" r:id="rId18"/>
    <p:sldId id="276" r:id="rId19"/>
    <p:sldId id="277" r:id="rId20"/>
    <p:sldId id="281" r:id="rId21"/>
    <p:sldId id="280" r:id="rId22"/>
    <p:sldId id="278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60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61" r:id="rId40"/>
    <p:sldId id="297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senza titolo" id="{576D85EB-1EA7-412B-8154-A78043FABA11}">
          <p14:sldIdLst>
            <p14:sldId id="256"/>
            <p14:sldId id="257"/>
            <p14:sldId id="262"/>
            <p14:sldId id="263"/>
            <p14:sldId id="264"/>
            <p14:sldId id="268"/>
            <p14:sldId id="266"/>
            <p14:sldId id="269"/>
            <p14:sldId id="258"/>
            <p14:sldId id="270"/>
            <p14:sldId id="271"/>
            <p14:sldId id="272"/>
            <p14:sldId id="279"/>
            <p14:sldId id="259"/>
            <p14:sldId id="273"/>
            <p14:sldId id="274"/>
            <p14:sldId id="275"/>
            <p14:sldId id="276"/>
            <p14:sldId id="277"/>
            <p14:sldId id="281"/>
            <p14:sldId id="280"/>
            <p14:sldId id="278"/>
            <p14:sldId id="282"/>
            <p14:sldId id="283"/>
            <p14:sldId id="284"/>
            <p14:sldId id="285"/>
            <p14:sldId id="286"/>
            <p14:sldId id="287"/>
            <p14:sldId id="288"/>
            <p14:sldId id="260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61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5020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5B98ACD6-E341-D7F4-287C-AE62456AD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031422E-CDE0-3153-67EB-898F3D8C91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8AD35-020F-4D7A-B598-A92EEE18E269}" type="datetimeFigureOut">
              <a:rPr lang="it-IT" smtClean="0"/>
              <a:t>29/06/2026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28BB4E5-C838-ABD2-3243-24C534786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F289554-DA48-E37B-1AD1-96B5026B015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02594-1D76-4E1A-BA68-D29FD6B5092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91619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1931C8-B0F1-490D-A132-2F25AC84C277}" type="datetimeFigureOut">
              <a:rPr lang="it-IT" smtClean="0"/>
              <a:t>20/06/2026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9181F-6A91-4505-9830-262DFE48650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690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9181F-6A91-4505-9830-262DFE486503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65872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D9181F-6A91-4505-9830-262DFE486503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902152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60192-8E2A-43E0-8619-B564873A9BD7}" type="datetime1">
              <a:rPr lang="it-IT" smtClean="0"/>
              <a:t>20/06/2026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792BEC9A-5125-CEE5-4124-AF2C514622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455" y="106861"/>
            <a:ext cx="5480050" cy="5491760"/>
          </a:xfrm>
          <a:prstGeom prst="rect">
            <a:avLst/>
          </a:prstGeom>
        </p:spPr>
      </p:pic>
      <p:sp>
        <p:nvSpPr>
          <p:cNvPr id="11" name="Titolo 10">
            <a:extLst>
              <a:ext uri="{FF2B5EF4-FFF2-40B4-BE49-F238E27FC236}">
                <a16:creationId xmlns:a16="http://schemas.microsoft.com/office/drawing/2014/main" id="{A4392A53-8A62-5EE5-CDBD-E01DB5B6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419669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00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B4C4-E5DF-48EF-A92D-ED1921B9781A}" type="datetime1">
              <a:rPr lang="it-IT" smtClean="0"/>
              <a:t>20/06/2026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043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4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4C5BD-31E0-4462-BED0-A73E332AFABD}" type="datetime1">
              <a:rPr lang="it-IT" smtClean="0"/>
              <a:t>20/06/2026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E7D07327-B59A-397F-C493-642DFFFE1C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3029" y="590559"/>
            <a:ext cx="5664777" cy="567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71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D34A2-FCA4-4B82-8FE1-E946B3DC2319}" type="datetime1">
              <a:rPr lang="it-IT" smtClean="0"/>
              <a:t>20/06/2026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753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966F7-9313-478C-85EC-9253025F0BD7}" type="datetime1">
              <a:rPr lang="it-IT" smtClean="0"/>
              <a:t>20/06/2026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3174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09E58-7266-41C2-B78D-E1AD40F6A3E9}" type="datetime1">
              <a:rPr lang="it-IT" smtClean="0"/>
              <a:t>20/06/2026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1790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22A0-2C1A-42F7-BB7B-FC3A5391E845}" type="datetime1">
              <a:rPr lang="it-IT" smtClean="0"/>
              <a:t>20/06/2026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0871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A2654B5-F90C-43E2-939F-8F3DAC4FBED6}" type="datetime1">
              <a:rPr lang="it-IT" smtClean="0"/>
              <a:t>20/06/2026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7192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11B9A-F674-468B-8142-B0C22F9D7F64}" type="datetime1">
              <a:rPr lang="it-IT" smtClean="0"/>
              <a:t>20/06/2026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6634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00CAE-4155-4AB6-AD7A-A99ADC7D6FE6}" type="datetime1">
              <a:rPr lang="it-IT" smtClean="0"/>
              <a:t>20/06/2026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69268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FEF4-161F-4190-A129-16696E380469}" type="datetime1">
              <a:rPr lang="it-IT" smtClean="0"/>
              <a:t>20/06/2026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766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BF64107-A47B-40B3-BBE5-8BFD07C3F286}" type="datetime1">
              <a:rPr lang="it-IT" smtClean="0"/>
              <a:t>20/06/2026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8AC92C-0D1B-4114-80D6-172131723041}" type="slidenum">
              <a:rPr lang="it-IT" smtClean="0"/>
              <a:t>‹N›</a:t>
            </a:fld>
            <a:endParaRPr lang="it-I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51F96908-F7E2-D0EB-8F84-94E9F86A0D6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4532" y="-796"/>
            <a:ext cx="2339757" cy="9901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9571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50901B-C209-8FBA-7618-A89F4453E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276789"/>
            <a:ext cx="8791575" cy="1974798"/>
          </a:xfrm>
        </p:spPr>
        <p:txBody>
          <a:bodyPr>
            <a:normAutofit/>
          </a:bodyPr>
          <a:lstStyle/>
          <a:p>
            <a:pPr algn="ctr"/>
            <a:r>
              <a:rPr lang="it-IT" sz="5400" b="1" dirty="0"/>
              <a:t>WEISFEILER-LEHMAN GRAPH KERNELS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191DC25-589F-76BA-4337-8DC771315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0762" y="3064582"/>
            <a:ext cx="7610474" cy="3333749"/>
          </a:xfrm>
        </p:spPr>
        <p:txBody>
          <a:bodyPr>
            <a:normAutofit fontScale="92500" lnSpcReduction="10000"/>
          </a:bodyPr>
          <a:lstStyle/>
          <a:p>
            <a:pPr algn="ctr"/>
            <a:endParaRPr lang="it-IT" dirty="0"/>
          </a:p>
          <a:p>
            <a:pPr algn="ctr"/>
            <a:r>
              <a:rPr lang="it-IT" dirty="0"/>
              <a:t>Roman Cristiano</a:t>
            </a:r>
          </a:p>
          <a:p>
            <a:pPr algn="ctr">
              <a:lnSpc>
                <a:spcPct val="100000"/>
              </a:lnSpc>
            </a:pPr>
            <a:endParaRPr lang="it-IT" dirty="0"/>
          </a:p>
          <a:p>
            <a:pPr algn="ctr">
              <a:lnSpc>
                <a:spcPct val="100000"/>
              </a:lnSpc>
            </a:pPr>
            <a:r>
              <a:rPr lang="it-IT" dirty="0"/>
              <a:t>Università degli studi di </a:t>
            </a:r>
            <a:r>
              <a:rPr lang="it-IT" dirty="0" err="1"/>
              <a:t>udine</a:t>
            </a:r>
            <a:endParaRPr lang="it-IT" dirty="0"/>
          </a:p>
          <a:p>
            <a:pPr algn="ctr">
              <a:lnSpc>
                <a:spcPct val="100000"/>
              </a:lnSpc>
            </a:pPr>
            <a:r>
              <a:rPr lang="it-IT" dirty="0" err="1"/>
              <a:t>Dmif</a:t>
            </a:r>
            <a:endParaRPr lang="it-IT" dirty="0"/>
          </a:p>
          <a:p>
            <a:pPr algn="ctr">
              <a:lnSpc>
                <a:spcPct val="100000"/>
              </a:lnSpc>
            </a:pPr>
            <a:endParaRPr lang="it-IT" dirty="0"/>
          </a:p>
          <a:p>
            <a:pPr algn="ctr">
              <a:lnSpc>
                <a:spcPct val="100000"/>
              </a:lnSpc>
            </a:pPr>
            <a:r>
              <a:rPr lang="it-IT" dirty="0"/>
              <a:t>Novembre 2025</a:t>
            </a:r>
          </a:p>
          <a:p>
            <a:pPr algn="ctr">
              <a:lnSpc>
                <a:spcPct val="100000"/>
              </a:lnSpc>
            </a:pPr>
            <a:endParaRPr lang="it-IT" dirty="0"/>
          </a:p>
          <a:p>
            <a:pPr algn="ctr">
              <a:lnSpc>
                <a:spcPct val="100000"/>
              </a:lnSpc>
            </a:pPr>
            <a:endParaRPr lang="it-IT" dirty="0"/>
          </a:p>
          <a:p>
            <a:pPr algn="ctr">
              <a:lnSpc>
                <a:spcPct val="100000"/>
              </a:lnSpc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63587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10697A-217E-C25E-7902-4F4E2691B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Indice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38605B6-7927-BFD1-23A1-009A15504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it-IT" dirty="0"/>
              <a:t>1. Introduzione</a:t>
            </a:r>
          </a:p>
          <a:p>
            <a:pPr>
              <a:lnSpc>
                <a:spcPct val="200000"/>
              </a:lnSpc>
            </a:pPr>
            <a:r>
              <a:rPr lang="it-IT" dirty="0"/>
              <a:t>2. Weisfeiler-Lehman </a:t>
            </a:r>
            <a:r>
              <a:rPr lang="it-IT" dirty="0" err="1"/>
              <a:t>isomorphism</a:t>
            </a:r>
            <a:r>
              <a:rPr lang="it-IT" dirty="0"/>
              <a:t> test</a:t>
            </a:r>
          </a:p>
          <a:p>
            <a:pPr>
              <a:lnSpc>
                <a:spcPct val="200000"/>
              </a:lnSpc>
            </a:pPr>
            <a:r>
              <a:rPr lang="it-IT" dirty="0"/>
              <a:t>3. General Weisfeiler-Lehman kernels</a:t>
            </a:r>
          </a:p>
          <a:p>
            <a:pPr>
              <a:lnSpc>
                <a:spcPct val="200000"/>
              </a:lnSpc>
            </a:pPr>
            <a:r>
              <a:rPr lang="it-IT" dirty="0"/>
              <a:t>4. Sperimentazione</a:t>
            </a:r>
          </a:p>
          <a:p>
            <a:pPr>
              <a:lnSpc>
                <a:spcPct val="200000"/>
              </a:lnSpc>
            </a:pPr>
            <a:r>
              <a:rPr lang="it-IT" dirty="0"/>
              <a:t>5. Conclusioni</a:t>
            </a:r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6C3EE756-633A-C63C-6671-C4DE8AF1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501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8ECF4-4E8F-EF45-3522-1B44B431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Introduzione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5700C6B-5092-F981-EC21-1487F5F05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29CA838-D73C-DBD4-9B60-CAE3FA976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34221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3F89FC01-D0CF-4899-A184-1F00703630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noProof="0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4E5A9FF-C93F-4A6D-ABDE-2533C3017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 noProof="0" dirty="0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890A4124-979D-4376-AA58-6501D58B6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olo 4">
            <a:extLst>
              <a:ext uri="{FF2B5EF4-FFF2-40B4-BE49-F238E27FC236}">
                <a16:creationId xmlns:a16="http://schemas.microsoft.com/office/drawing/2014/main" id="{B0569412-D1E8-3A72-5022-135D2DB8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4000" noProof="0" dirty="0"/>
              <a:t>Introduzione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9FA9C06-2B11-1276-EB15-2BB5F8CB01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5246167" cy="4023360"/>
          </a:xfrm>
        </p:spPr>
        <p:txBody>
          <a:bodyPr vert="horz" lIns="0" tIns="45720" rIns="0" bIns="45720" rtlCol="0">
            <a:normAutofit lnSpcReduction="1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it-IT" noProof="0" dirty="0"/>
              <a:t>Dati strutturati sottoforma di grafi sempre più frequenti (social networks, strutture chimiche proteine, reti di regolazione genica o proteica, ecc. 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noProof="0" dirty="0"/>
              <a:t>Per analizzare e comprendere questo tipo di dati vengono usati principalmente algoritmi di machine learning e reti neurali (GNN), in grado di gestire grafi su larga scala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noProof="0" dirty="0"/>
              <a:t>Problema tipico: dato un insieme di composti chimici (etichette su nodi e archi) con una certa funzione (e.g. tossicità, mutagenicità), e un altro insieme privo di queste funzioni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 b="1" noProof="0" dirty="0"/>
              <a:t>Obiettivo</a:t>
            </a:r>
            <a:r>
              <a:rPr lang="it-IT" noProof="0" dirty="0"/>
              <a:t>: predire se nuove molecole hanno o meno queste funzioni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noProof="0" dirty="0"/>
              <a:t>Il problema di misurare la similarità fra grafi è alla base dell’apprendimento su grafi.</a:t>
            </a:r>
          </a:p>
          <a:p>
            <a:pPr lvl="2"/>
            <a:endParaRPr lang="it-IT" noProof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F06B87B-A8D5-4BD1-781A-6BF693DC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5D8AC92C-0D1B-4114-80D6-172131723041}" type="slidenum">
              <a:rPr lang="it-IT" noProof="0" smtClean="0"/>
              <a:pPr defTabSz="914400">
                <a:spcAft>
                  <a:spcPts val="600"/>
                </a:spcAft>
              </a:pPr>
              <a:t>4</a:t>
            </a:fld>
            <a:endParaRPr lang="it-IT" noProof="0" dirty="0"/>
          </a:p>
        </p:txBody>
      </p:sp>
      <p:pic>
        <p:nvPicPr>
          <p:cNvPr id="10" name="Segnaposto contenuto 9" descr="Immagine che contiene testo, diagramma, schermata, cerchio">
            <a:extLst>
              <a:ext uri="{FF2B5EF4-FFF2-40B4-BE49-F238E27FC236}">
                <a16:creationId xmlns:a16="http://schemas.microsoft.com/office/drawing/2014/main" id="{BE8CE2C6-EB6F-A3D4-E181-7522A25BDDD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3447" y="2367238"/>
            <a:ext cx="4820618" cy="2900209"/>
          </a:xfrm>
        </p:spPr>
      </p:pic>
    </p:spTree>
    <p:extLst>
      <p:ext uri="{BB962C8B-B14F-4D97-AF65-F5344CB8AC3E}">
        <p14:creationId xmlns:p14="http://schemas.microsoft.com/office/powerpoint/2010/main" val="4157661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106A1F-BA2C-1127-9A61-98F03266B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Introduzione: misure di similarità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4A8C62-E37C-3B7D-976E-45D0BEF43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Esistono diverse misure di similarità su grafi. La misura più naturale per controllare se due grafi sono identici è l’isomorfismo (1 se sono isomorfi 0 altrimenti)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Il problema dell’isomorfismo è in NP, ma non è noto se sia NP-completo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L’isomorfismo di un sotto grafo è stato dimostrato essere un problema NP-completo (</a:t>
            </a:r>
            <a:r>
              <a:rPr lang="it-IT" dirty="0" err="1"/>
              <a:t>Garey</a:t>
            </a:r>
            <a:r>
              <a:rPr lang="it-IT" dirty="0"/>
              <a:t> and Johnson, 1979)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Isomorfismo su grafi e sue varianti sono troppo restrittive, i grafi richiedono identità topologica o ampie parti in comune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Alternative basate su corrispondenze non perfette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Altre misure di similarità flessibili basate su operazioni di modifica del grafo «</a:t>
            </a:r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edit</a:t>
            </a:r>
            <a:r>
              <a:rPr lang="it-IT" dirty="0"/>
              <a:t> </a:t>
            </a:r>
            <a:r>
              <a:rPr lang="it-IT" dirty="0" err="1"/>
              <a:t>distances</a:t>
            </a:r>
            <a:r>
              <a:rPr lang="it-IT" dirty="0"/>
              <a:t>» (Neuhaus and </a:t>
            </a:r>
            <a:r>
              <a:rPr lang="it-IT" dirty="0" err="1"/>
              <a:t>Bunke</a:t>
            </a:r>
            <a:r>
              <a:rPr lang="it-IT" dirty="0"/>
              <a:t>, 2005) ma richiedono la risoluzione di problemi NP-completi.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5AC4D00-3987-9593-83E5-606A3B92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57506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7CAEBC-0C6F-F667-FBA2-0EFA34257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Introduzione: misure di similarità (</a:t>
            </a:r>
            <a:r>
              <a:rPr lang="it-IT" dirty="0" err="1"/>
              <a:t>graph</a:t>
            </a:r>
            <a:r>
              <a:rPr lang="it-IT" dirty="0"/>
              <a:t> kernels)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240840B-970F-D3A5-554E-0006D8D8E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Sono un ramo in evoluzione dell’apprendimento su dati strutturati.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Sfruttano la topologia del grafo confrontando solo sotto strutture di grafi calcolabili in tempo polinomiale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Coprono il divario fra dati strutturati su grafi e un ampio spettro di algoritmi di machine learning basati su kernel (SVM, kernel PCA e kernel </a:t>
            </a:r>
            <a:r>
              <a:rPr lang="it-IT" dirty="0" err="1"/>
              <a:t>regression</a:t>
            </a:r>
            <a:r>
              <a:rPr lang="it-IT" dirty="0"/>
              <a:t>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Un </a:t>
            </a:r>
            <a:r>
              <a:rPr lang="it-IT" i="1" dirty="0"/>
              <a:t>kernel</a:t>
            </a:r>
            <a:r>
              <a:rPr lang="it-IT" dirty="0"/>
              <a:t> è una funzione che dati due oggetti quantifica la loro similarità; matematicamente equivale a un prodotto scalare in uno spazio di Hilbert (RKHS)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Graph</a:t>
            </a:r>
            <a:r>
              <a:rPr lang="it-IT" dirty="0"/>
              <a:t> kernel sono istanze della famiglia dei kernel R-convolutivi (Haussler, 1999).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Perché: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 dirty="0"/>
              <a:t>Scompongono i grafi in sottostrutture elementari (nodi, archi, cammini, </a:t>
            </a:r>
            <a:r>
              <a:rPr lang="it-IT" dirty="0" err="1"/>
              <a:t>sottografi</a:t>
            </a:r>
            <a:r>
              <a:rPr lang="it-IT" dirty="0"/>
              <a:t>, etichette).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it-IT" dirty="0"/>
              <a:t>Definiscono la similarità globale come somma delle similarità locali fra tali sottostrutture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1874F9-1546-D3F9-9145-B8C656DCF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9145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F0B03A-E899-FD87-4260-47F2227CD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Introduzione: </a:t>
            </a:r>
            <a:r>
              <a:rPr lang="it-IT" dirty="0" err="1"/>
              <a:t>graph</a:t>
            </a:r>
            <a:r>
              <a:rPr lang="it-IT" dirty="0"/>
              <a:t> kernels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D17A82-5710-398C-9C32-A5721B0C2A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 Terminologia: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 err="1"/>
                  <a:t>Graph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: con V insieme di vertici, E insieme di archi e ‘l’ funzione che assegna un etichetta presa da un alfabeto ad un nodo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): </m:t>
                    </m:r>
                  </m:oMath>
                </a14:m>
                <a:r>
                  <a:rPr lang="it-IT" dirty="0"/>
                  <a:t>definisce il vicinato del nodo v, l’insieme di nodi a cui v è collegato con un arco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Assumiamo che un grafo abbia n nodi, m archi e grado massimo d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Un cammino (</a:t>
                </a:r>
                <a:r>
                  <a:rPr lang="it-IT" i="1" dirty="0" err="1"/>
                  <a:t>walk</a:t>
                </a:r>
                <a:r>
                  <a:rPr lang="it-IT" dirty="0"/>
                  <a:t>) è una sequenza di nodi in un grafo, in cui nodi consecutivi sono connessi da un arco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Un percorso (</a:t>
                </a:r>
                <a:r>
                  <a:rPr lang="it-IT" i="1" dirty="0" err="1"/>
                  <a:t>path</a:t>
                </a:r>
                <a:r>
                  <a:rPr lang="it-IT" dirty="0"/>
                  <a:t>) è un cammino composto da nodi distinti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Un subtree è un </a:t>
                </a:r>
                <a:r>
                  <a:rPr lang="it-IT" dirty="0" err="1"/>
                  <a:t>sottografo</a:t>
                </a:r>
                <a:r>
                  <a:rPr lang="it-IT" dirty="0"/>
                  <a:t> privo di cicli ma con root designata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L’altezza è la distanza da un nodo alla root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Un subtree pattern (detto </a:t>
                </a:r>
                <a:r>
                  <a:rPr lang="it-IT" dirty="0" err="1"/>
                  <a:t>tree-walk</a:t>
                </a:r>
                <a:r>
                  <a:rPr lang="it-IT" dirty="0"/>
                  <a:t>) è un subtree che può avere nodi uguali, considerati distinti, in modo che il pattern sia privo di cicli</a:t>
                </a:r>
              </a:p>
              <a:p>
                <a:pPr marL="201168" lvl="1" indent="0">
                  <a:buNone/>
                </a:pPr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01D17A82-5710-398C-9C32-A5721B0C2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2273" r="-18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5DF8CD-8119-EE90-8871-BF281C3D3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3961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0E09F4-B9B1-B9BE-AAED-53EDD84A6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Introduzione: </a:t>
            </a:r>
            <a:r>
              <a:rPr lang="it-IT" dirty="0" err="1"/>
              <a:t>graph</a:t>
            </a:r>
            <a:r>
              <a:rPr lang="it-IT" dirty="0"/>
              <a:t> kernels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1FFC11-25E6-A6FF-9A02-273F5335A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Tre classi di </a:t>
                </a:r>
                <a:r>
                  <a:rPr lang="it-IT" dirty="0" err="1"/>
                  <a:t>graph</a:t>
                </a:r>
                <a:r>
                  <a:rPr lang="it-IT" dirty="0"/>
                  <a:t> kernels: 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Basati sui cammini o percorsi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Basati su </a:t>
                </a:r>
                <a:r>
                  <a:rPr lang="it-IT" dirty="0" err="1"/>
                  <a:t>sottografi</a:t>
                </a:r>
                <a:r>
                  <a:rPr lang="it-IT" dirty="0"/>
                  <a:t> di dimensione limitata (</a:t>
                </a:r>
                <a:r>
                  <a:rPr lang="it-IT" dirty="0" err="1"/>
                  <a:t>graphlets</a:t>
                </a:r>
                <a:r>
                  <a:rPr lang="it-IT" dirty="0"/>
                  <a:t>)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Basati su subtree patterns</a:t>
                </a:r>
              </a:p>
              <a:p>
                <a:pPr marL="251460" indent="-342900">
                  <a:buFont typeface="+mj-lt"/>
                  <a:buAutoNum type="arabicPeriod"/>
                </a:pPr>
                <a:r>
                  <a:rPr lang="it-IT" dirty="0"/>
                  <a:t>Calcolano il numero di coppie di cammini (o percorsi) casuali che sono uguali in due grafi. Il metodo standard basato su prodotto diretto fra grafi ha complessità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it-IT" dirty="0"/>
                  <a:t>). Utilizzando il prodotto di </a:t>
                </a:r>
                <a:r>
                  <a:rPr lang="it-IT" dirty="0" err="1"/>
                  <a:t>Kronecker</a:t>
                </a:r>
                <a:r>
                  <a:rPr lang="it-IT" dirty="0"/>
                  <a:t> la complessità si abbassa a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  <a:p>
                <a:pPr marL="251460" indent="-342900">
                  <a:buFont typeface="+mj-lt"/>
                  <a:buAutoNum type="arabicPeriod"/>
                </a:pPr>
                <a:r>
                  <a:rPr lang="it-IT" dirty="0"/>
                  <a:t>Rappresentano tutti i </a:t>
                </a:r>
                <a:r>
                  <a:rPr lang="it-IT" dirty="0" err="1"/>
                  <a:t>sottografi</a:t>
                </a:r>
                <a:r>
                  <a:rPr lang="it-IT" dirty="0"/>
                  <a:t> possibili di dimensione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∈{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it-IT" dirty="0"/>
              </a:p>
              <a:p>
                <a:pPr marL="251460" indent="-342900">
                  <a:buFont typeface="+mj-lt"/>
                  <a:buAutoNum type="arabicPeriod"/>
                </a:pPr>
                <a:r>
                  <a:rPr lang="it-IT" dirty="0"/>
                  <a:t>Per ogni coppia di nodi v di G e v’ di G’, considero tutti gli alberi radicati in v e v’ e conto quante sottostrutture coincidono fra i due. La somma di tutte queste similarità è il risultato del kernel. La complessità del kernel per un dataset di N grafi è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b="0" i="1" smtClean="0">
                        <a:latin typeface="Cambria Math" panose="02040503050406030204" pitchFamily="18" charset="0"/>
                      </a:rPr>
                      <m:t>h</m:t>
                    </m:r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  <a:p>
                <a:pPr marL="251460" indent="-342900">
                  <a:buFont typeface="Arial" panose="020B0604020202020204" pitchFamily="34" charset="0"/>
                  <a:buChar char="•"/>
                </a:pPr>
                <a:r>
                  <a:rPr lang="it-IT" dirty="0"/>
                  <a:t>Metodi che considerano subtree con al più 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it-IT" dirty="0"/>
                  <a:t> nodi figli, ma complessità rimane al più esponenziale su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it-IT" dirty="0"/>
              </a:p>
              <a:p>
                <a:pPr marL="251460" indent="-342900">
                  <a:buFont typeface="Arial" panose="020B0604020202020204" pitchFamily="34" charset="0"/>
                  <a:buChar char="•"/>
                </a:pPr>
                <a:r>
                  <a:rPr lang="it-IT" dirty="0"/>
                  <a:t>Scalabilità ridotta su grafi con più di 100 nodi, nel caso peggiore nessun </a:t>
                </a:r>
                <a:r>
                  <a:rPr lang="it-IT" dirty="0" err="1"/>
                  <a:t>graph</a:t>
                </a:r>
                <a:r>
                  <a:rPr lang="it-IT" dirty="0"/>
                  <a:t> kernel ha complessità migliore di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it-IT" dirty="0"/>
                  <a:t>)</a:t>
                </a:r>
              </a:p>
              <a:p>
                <a:pPr marL="251460" indent="-342900">
                  <a:buFont typeface="Arial" panose="020B0604020202020204" pitchFamily="34" charset="0"/>
                  <a:buChar char="•"/>
                </a:pPr>
                <a:r>
                  <a:rPr lang="it-IT" dirty="0"/>
                  <a:t>Presentiamo </a:t>
                </a:r>
                <a:r>
                  <a:rPr lang="it-IT" dirty="0" err="1"/>
                  <a:t>graph</a:t>
                </a:r>
                <a:r>
                  <a:rPr lang="it-IT" dirty="0"/>
                  <a:t> kernels che uniscono approcci esistenti e sono efficienti per grafi etichettati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1FFC11-25E6-A6FF-9A02-273F5335A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2" t="-1970" r="-11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45A5C44-BAD1-FD08-D63C-12222975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7818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BB0146-2892-DA34-2C8A-66586A3FA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Weisfeiler-Lehman </a:t>
            </a:r>
            <a:r>
              <a:rPr lang="it-IT" dirty="0" err="1"/>
              <a:t>isomorphism</a:t>
            </a:r>
            <a:r>
              <a:rPr lang="it-IT" dirty="0"/>
              <a:t> test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F7964F-A7C1-9C3A-596B-D77BAB4AE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F5008B7-BD30-7482-D6E1-B8CAA6C6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045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33088D-D14D-B9FF-84A7-1769327B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Algoritmo di Weisfeiler-Lehman per isomorfismo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9776E81-F780-F630-5112-B9B2531C5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56946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Graph</a:t>
            </a:r>
            <a:r>
              <a:rPr lang="it-IT" dirty="0"/>
              <a:t> kernels usano concetti del test di </a:t>
            </a:r>
            <a:r>
              <a:rPr lang="it-IT" dirty="0" err="1"/>
              <a:t>Weisfeiler</a:t>
            </a:r>
            <a:r>
              <a:rPr lang="it-IT" dirty="0"/>
              <a:t>-Lehman per l’isomorfismo(</a:t>
            </a:r>
            <a:r>
              <a:rPr lang="it-IT" dirty="0" err="1"/>
              <a:t>Weisfeiler</a:t>
            </a:r>
            <a:r>
              <a:rPr lang="it-IT" dirty="0"/>
              <a:t>-Lehman, 1968), nella versione «</a:t>
            </a:r>
            <a:r>
              <a:rPr lang="it-IT" dirty="0" err="1"/>
              <a:t>naive</a:t>
            </a:r>
            <a:r>
              <a:rPr lang="it-IT" dirty="0"/>
              <a:t>» 1-D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Dati due grafi G e G’ vogliamo verificare se sono isomorfi, il test procede iterativamente su 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b="1" dirty="0"/>
              <a:t>Idea</a:t>
            </a:r>
            <a:r>
              <a:rPr lang="it-IT" dirty="0"/>
              <a:t>: arricchire le etichette dei nodi con l’insieme ordinato delle etichette dei loro nodi adiacenti, e poi comprimere il risultato in nuove etichette più brevi.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Ripeto finche gli insiemi di etichette dei nodi di G e G’ non divergono (quindi non sono isomorfi) oppure quando raggiungo l’iterazione n-esima.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Dopo l’ordinamento dei </a:t>
            </a:r>
            <a:r>
              <a:rPr lang="it-IT" dirty="0" err="1"/>
              <a:t>multiset</a:t>
            </a:r>
            <a:r>
              <a:rPr lang="it-IT" dirty="0"/>
              <a:t>, viene usata una funzione f per comprimere le etichette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f tiene un contatore che registra quante stringhe distinte sono già state compresse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quando f incontra una stringa che ha già compresso in precedenza le assegna lo stesso numero del contatore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quando invece incontra una nuova stringa incrementa il contatore e assegna quel nuovo valore alla stringa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163F2A5-7F1E-62AD-45E4-DF638EF9C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4636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ED4254-3645-A586-57C6-4B776445A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D056110-AE1C-405D-2E12-E30A9C4EAAFB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78" y="1845734"/>
                <a:ext cx="4448116" cy="4023360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it-IT" dirty="0"/>
                  <a:t>Creazione </a:t>
                </a:r>
                <a:r>
                  <a:rPr lang="it-IT" dirty="0" err="1"/>
                  <a:t>multiset</a:t>
                </a:r>
                <a:r>
                  <a:rPr lang="it-IT" dirty="0"/>
                  <a:t> che contiene le etichette dei nodi vicini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it-IT" dirty="0"/>
                  <a:t>Rappresentazione ordinata del </a:t>
                </a:r>
                <a:r>
                  <a:rPr lang="it-IT" dirty="0" err="1"/>
                  <a:t>multiset</a:t>
                </a:r>
                <a:r>
                  <a:rPr lang="it-IT" dirty="0"/>
                  <a:t> di ogni nodo: ordinamento, concatenazione e aggiunta </a:t>
                </a:r>
                <a:r>
                  <a:rPr lang="it-IT" dirty="0" err="1"/>
                  <a:t>multiset</a:t>
                </a:r>
                <a:r>
                  <a:rPr lang="it-IT" dirty="0"/>
                  <a:t> precedente come prefisso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it-IT" dirty="0"/>
                  <a:t>Compressione etichette: si ordinano tutte le stringhe, con f assegno una nuova etichetta numerica che assegna lo stesso numero per stringhe uguali,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it-IT" dirty="0" err="1"/>
                  <a:t>Relabeling</a:t>
                </a:r>
                <a:r>
                  <a:rPr lang="it-IT" dirty="0"/>
                  <a:t>: aggiornare le etichette di ogni nodo con le compressioni di f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D056110-AE1C-405D-2E12-E30A9C4EA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78" y="1845734"/>
                <a:ext cx="4448116" cy="4023360"/>
              </a:xfrm>
              <a:blipFill>
                <a:blip r:embed="rId2"/>
                <a:stretch>
                  <a:fillRect l="-3562" t="-1818" r="-2466" b="-1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Segnaposto contenuto 6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D3C746FF-5DC0-4697-C872-CEDBC5A77E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5394" y="2252776"/>
            <a:ext cx="5609969" cy="2881514"/>
          </a:xfrm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829289C-1DFC-389C-E954-B149580C7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302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08D612-FF02-2879-688A-504891713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Osservazioni sull’algoritmo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F59E57-4BA1-07A4-78B9-8844DC8B26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L’ordinamento dei </a:t>
                </a:r>
                <a:r>
                  <a:rPr lang="it-IT" dirty="0" err="1"/>
                  <a:t>multiset</a:t>
                </a:r>
                <a:r>
                  <a:rPr lang="it-IT" dirty="0"/>
                  <a:t> garantisce che tutte le stringhe uguali vengano mappate nello stesso numero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Tuttavia l’ordinamento non è necessario per definire f, qualsiasi altra funzione iniettiva ben strutturata restituirà risultati equivalenti. L’alfabeto deve essere abbastanza grande per f affinché sia iniettiva, per due grafi al massimo 2n.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Dimostrato essere un test per l’isomorfismo valido per la maggior parte dei grafi (</a:t>
                </a:r>
                <a:r>
                  <a:rPr lang="it-IT" dirty="0" err="1"/>
                  <a:t>Babai</a:t>
                </a:r>
                <a:r>
                  <a:rPr lang="it-IT" dirty="0"/>
                  <a:t> and Kucera, 1979)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b="1" dirty="0"/>
                  <a:t>Complessità totale</a:t>
                </a:r>
                <a:r>
                  <a:rPr lang="it-IT" dirty="0"/>
                  <a:t>: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it-IT" b="0" i="1" dirty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con h numero di iterazioni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Creazione dei </a:t>
                </a:r>
                <a:r>
                  <a:rPr lang="it-IT" dirty="0" err="1"/>
                  <a:t>multiset</a:t>
                </a:r>
                <a:r>
                  <a:rPr lang="it-IT" dirty="0"/>
                  <a:t> costa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Ordinamento di ogni </a:t>
                </a:r>
                <a:r>
                  <a:rPr lang="it-IT" dirty="0" err="1"/>
                  <a:t>multiset</a:t>
                </a:r>
                <a:r>
                  <a:rPr lang="it-IT" dirty="0"/>
                  <a:t> costa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usando </a:t>
                </a:r>
                <a:r>
                  <a:rPr lang="it-IT" dirty="0" err="1"/>
                  <a:t>Counting</a:t>
                </a:r>
                <a:r>
                  <a:rPr lang="it-IT" dirty="0"/>
                  <a:t> Sort (in questo caso istanza di Bucket Sort), perché le etichette appartengono ad un dominio limitato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1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it-IT" b="0" i="1" dirty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r>
                  <a:rPr lang="it-IT" dirty="0"/>
                  <a:t>Per ogni nodo l’ordinamento richiede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1" dirty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 b="0" i="1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, in totale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, dato che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it-IT" dirty="0"/>
                  <a:t> (per grafi non banali).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La compressione richiede una singola scansione sui caratteri delle stringhe quindi ha complessità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A1F59E57-4BA1-07A4-78B9-8844DC8B26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970" r="-16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FC2841-FDF7-3AD9-C9A6-7483683E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1223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07058712-12D6-B147-E476-8C3737111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Passi algoritmo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BDA28AE6-9F0B-3F25-7DDE-8E2DDA3FB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960" y="1971539"/>
            <a:ext cx="7498079" cy="4017875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F67DC80-1203-05C9-2C7A-C2438CCE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8641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0EFB68-7D07-E10F-04C9-4F149F492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200000"/>
              </a:lnSpc>
            </a:pPr>
            <a:r>
              <a:rPr lang="it-IT" dirty="0"/>
              <a:t>General Weisfeiler-Lehman kernels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9081F03-FD64-7A77-D373-1BCE5B46F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4CDFBF7-7C2D-5033-1412-00CED4A58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3615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C8ED0-E2E1-1BAD-8273-46D32F99B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kernel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EF9096-27D6-C2DF-DFE4-2D6243E491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Definizione </a:t>
                </a:r>
                <a:r>
                  <a:rPr lang="it-IT" b="1" dirty="0"/>
                  <a:t>sequenza di grafi di Weisfeiler-Lehman</a:t>
                </a:r>
                <a:r>
                  <a:rPr lang="it-IT" dirty="0"/>
                  <a:t>: Dato un grafo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it-IT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it-IT" dirty="0"/>
                  <a:t>si definisce grafo di W-L all’altezza i</a:t>
                </a:r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, dopo i aggiornamenti di etichette. La sequenza di grafi W-L fino all’altezza h è: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ℓ</m:t>
                    </m:r>
                  </m:oMath>
                </a14:m>
                <a:r>
                  <a:rPr lang="it-IT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Definizione </a:t>
                </a:r>
                <a:r>
                  <a:rPr lang="it-IT" b="1" dirty="0"/>
                  <a:t>Weisfeiler–Lehman kernel: </a:t>
                </a:r>
                <a:r>
                  <a:rPr lang="it-IT" dirty="0"/>
                  <a:t>sia k un kernel di base per grafi. Il kernel di W-L dopo h iterazioni equivale 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+⋯+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sepChr m:val=",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it-IT" dirty="0"/>
                  <a:t>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ar-AE">
                        <a:latin typeface="Cambria Math" panose="02040503050406030204" pitchFamily="18" charset="0"/>
                      </a:rPr>
                      <m:t>,…,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it-IT" dirty="0"/>
                  <a:t>sono le sequenze W-L dei due grafi,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C4EF9096-27D6-C2DF-DFE4-2D6243E491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818" r="-48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53695F-9699-A762-5180-ABD64D7E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344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815BAB-5A15-4EB0-C981-B99122AB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kernel framework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AD9FC23-F723-6701-9FB2-F05A133B15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Teorema</a:t>
                </a:r>
                <a:r>
                  <a:rPr lang="it-IT" dirty="0"/>
                  <a:t>:  Sia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un qualsiasi kernel positivo semi-definito definito su grafi. Allora il kernel di Weisfeiler–Lehman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𝑊𝐿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</m:oMath>
                </a14:m>
                <a:r>
                  <a:rPr lang="it-IT" dirty="0"/>
                  <a:t>corrispondente è anch’esso positivo semi-definito.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Un kernel è positivo semi-definito (PSD) quando, per qualsiasi insieme finito di oggetti, la matrice kernel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it-IT" dirty="0"/>
                  <a:t>è tale che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ar-AE" i="1">
                        <a:latin typeface="Cambria Math" panose="02040503050406030204" pitchFamily="18" charset="0"/>
                      </a:rPr>
                      <m:t>𝐾𝑐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>
                        <a:latin typeface="Cambria Math" panose="02040503050406030204" pitchFamily="18" charset="0"/>
                      </a:rPr>
                      <m:t>0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ar-AE">
                        <a:latin typeface="Cambria Math" panose="02040503050406030204" pitchFamily="18" charset="0"/>
                      </a:rPr>
                      <m:t> ∀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(Teorema di Mercer): se una funzione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it-IT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è positiva semi-definita, allora può essere rappresentata come un prodotto scalare in uno spazio di Hilbert. Questo implica che i kernel permettono di lavorare in uno spazio delle feature implicito, in cui i dati diventano più facilmente separabili.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In pratica quando la matrice kernel è positiva semi-definita, il processo di ottimizzazione è più stabile e garantisce la ricerca di un ottimo globale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Per questi motivi è fondamentale che un kernel sia positivo semi-definito</a:t>
                </a:r>
              </a:p>
            </p:txBody>
          </p:sp>
        </mc:Choice>
        <mc:Fallback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AD9FC23-F723-6701-9FB2-F05A133B15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DB8AB11-DA09-072D-C01B-DFDE03C9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3841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2E0C7B-1990-0521-5D63-A7FB0A8E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kernel framework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04E2E75-AF6F-FB17-9164-936E37BFE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il kernel di W-L non sostituisce gli altri kernel su grafi, permette di applicare qualsiasi kernel positivo semi-definito su grafi non solo al grafo originale ma anche a tutte le sue versioni successive con nuove etichette.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Ad ogni iterazione l’algoritmo aggiorna le etichette in base a quelle dei vicini e aumenta il livello di informazione volta per volta, catturando meglio la topologia locale. Per esempio, con h=0 le feature rappresentano le etichette dei nodi originali, h=1 rappresentano anche i pattern di primo vicinato, h=2 rappresentano sotto-strutture più grandi, e cosi via.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 classico: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Trova il percorso più breve fra tutte le coppie di nodi; misura quanto la struttura degli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di un grafo assomiglia a quella dell’altro, confrontando etichette e lunghezza dei percorsi. I grafi non vengono modificati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756BDE0-2F6E-D4C1-5ACD-B3C910E47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5740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CB5608-1553-7E99-781A-1DE669F0D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kernel framework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36FF744-36CC-6C32-FFA9-929BC81FA8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dirty="0" err="1"/>
                  <a:t>Shortest</a:t>
                </a:r>
                <a:r>
                  <a:rPr lang="it-IT" dirty="0"/>
                  <a:t> </a:t>
                </a:r>
                <a:r>
                  <a:rPr lang="it-IT" dirty="0" err="1"/>
                  <a:t>path</a:t>
                </a:r>
                <a:r>
                  <a:rPr lang="it-IT" dirty="0"/>
                  <a:t> kernel dopo un’iterazione dell’algoritmo W-L: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Confronta coppie di percorsi con la stessa distanza fra radici di subtree patterns identici di altezza i su grafi W-L con h=i. Il confronto è strutturale, tiene conto della topologia dei grafi, non guarda solo le etichette locali.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Per alcuni kernel basici si può sfruttare il fatto che la struttura del grafo non varia durante la sequenza del kernel W-L e quindi evitare calcoli ridondanti. Per esempio gli </a:t>
                </a:r>
                <a:r>
                  <a:rPr lang="it-IT" dirty="0" err="1"/>
                  <a:t>shortest</a:t>
                </a:r>
                <a:r>
                  <a:rPr lang="it-IT" dirty="0"/>
                  <a:t> </a:t>
                </a:r>
                <a:r>
                  <a:rPr lang="it-IT" dirty="0" err="1"/>
                  <a:t>paths</a:t>
                </a:r>
                <a:r>
                  <a:rPr lang="it-IT" dirty="0"/>
                  <a:t> in G sono gli stessi usati per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</m:oMath>
                </a14:m>
                <a:r>
                  <a:rPr lang="it-IT" dirty="0"/>
                  <a:t> ad ogni iterazione e possono essere precalcolati 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636FF744-36CC-6C32-FFA9-929BC81FA8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3308389-FEE0-5095-7518-A3DE8227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5957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06798B-29F5-75AA-DE2C-3B38CC025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subtree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BEF8828-6153-5458-9CF8-F2004BF02F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Considerati due grafi G e G’. Definamo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Σ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come l’insieme di etichette distinte che compaiono almeno una volta nei due grafi dopo l’iterazione i-esima.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Assumiamo che per ogni i,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siano disgiunti e che ogni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∣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 sia ordinato.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Definiamo la mappa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>
                        <a:latin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it-IT" dirty="0"/>
                  <a:t> tale che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 è il numero di occorrenze dell’etichetta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it-IT" dirty="0"/>
                  <a:t> nel grafo G.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b="1" dirty="0"/>
                  <a:t> </a:t>
                </a:r>
                <a:r>
                  <a:rPr lang="it-IT" dirty="0"/>
                  <a:t>Definizione</a:t>
                </a:r>
                <a:r>
                  <a:rPr lang="it-IT" b="1" dirty="0"/>
                  <a:t> Weisfeiler-Lehman subtree kernel </a:t>
                </a:r>
                <a:r>
                  <a:rPr lang="it-IT" dirty="0"/>
                  <a:t>su G e G’ con h iterazioni: </a:t>
                </a:r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𝑊𝐿𝑠𝑢𝑏𝑡𝑟𝑒𝑒</m:t>
                          </m:r>
                        </m:sub>
                        <m:sup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d>
                        <m:dPr>
                          <m:sepChr m:val=",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sSup>
                            <m:sSup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it-IT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𝑊𝐿𝑠𝑢𝑏𝑡𝑟𝑒𝑒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sup>
                          </m:sSubSup>
                        </m:e>
                        <m:e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d>
                          <m:sSubSup>
                            <m:sSubSup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𝑊𝐿𝑠𝑢𝑏𝑡𝑟𝑒𝑒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sup>
                          </m:sSubSup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it-IT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e>
                      </m:d>
                    </m:oMath>
                  </m:oMathPara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𝑊𝐿𝑠𝑢𝑏𝑡𝑟𝑒𝑒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01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ar-AE">
                            <a:latin typeface="Cambria Math" panose="02040503050406030204" pitchFamily="18" charset="0"/>
                          </a:rPr>
                          <m:t>…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e>
                                  <m:sub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it-IT" i="1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3BEF8828-6153-5458-9CF8-F2004BF02F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4FB311-D6A6-F2D0-31CA-3C627AC0A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19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68823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33C58B-DEE0-BEFD-A4D4-CCE4C1A2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Risultato W-L subtree kernel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DC8C0362-16DC-C596-AD29-D9C127C424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Osserviamo la rappresentazione dei vettori delle feature dei grafi G e G’.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Nell’esempio i grafi originali hanno cinque etichette distinte mentre quelli risultanti otto.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Il W-L kernel calcola il prodotto scalare fra i vettori delle feature, e per la prima iterazione corrisponde a 11.</a:t>
            </a:r>
          </a:p>
          <a:p>
            <a:pPr marL="0" indent="0">
              <a:buNone/>
            </a:pP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8" name="Segnaposto contenuto 7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F11AB8CC-F9FE-D0B7-3D38-8D151FBE692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64" y="2108538"/>
            <a:ext cx="4998716" cy="3491372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2AA7186-52A3-BFB2-21C5-A49D91B5F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6267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98C1E8-2558-D78A-32E5-D8CB8A56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subtree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4601768-49C9-CF0E-B19B-263197CC09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i="1" dirty="0"/>
                  <a:t> Teorema: </a:t>
                </a:r>
                <a:r>
                  <a:rPr lang="it-IT" dirty="0"/>
                  <a:t>il W-L subtree kernel  su un a coppie di grafi può essere calcolato in tempo O(hm)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Dimostrazione: segue direttamente della definizione di W-L subtree kernel e dalla complessità del test  W-L per l’isomorfismo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Teorema: </a:t>
                </a:r>
                <a:r>
                  <a:rPr lang="it-IT" dirty="0"/>
                  <a:t>sia il kernel base k una funzione che conta il numero di etichette uguali in due grafi: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>
                          <a:latin typeface="Cambria Math" panose="02040503050406030204" pitchFamily="18" charset="0"/>
                        </a:rPr>
                        <m:t>𝑘</m:t>
                      </m:r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V</m:t>
                          </m:r>
                          <m:r>
                            <a:rPr lang="it-IT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ar-AE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grow m:val="on"/>
                              <m:supHide m:val="on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ar-AE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V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</m:nary>
                          <m:d>
                            <m:dPr>
                              <m:sepChr m:val=",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ar-AE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it-IT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it-IT" dirty="0"/>
                  <a:t>Dove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it-IT" dirty="0"/>
                  <a:t> </a:t>
                </a:r>
                <a:r>
                  <a:rPr lang="ar-AE" dirty="0"/>
                  <a:t>(</a:t>
                </a:r>
                <a:r>
                  <a:rPr lang="it-IT" dirty="0"/>
                  <a:t> detta Dirac kernel (o delta di </a:t>
                </a:r>
                <a:r>
                  <a:rPr lang="it-IT" dirty="0" err="1"/>
                  <a:t>Kronecker</a:t>
                </a:r>
                <a:r>
                  <a:rPr lang="it-IT" dirty="0"/>
                  <a:t>) equivale a 1 quando gli argomenti sono uguali altrimenti vale 0.</a:t>
                </a:r>
              </a:p>
              <a:p>
                <a:pPr lvl="3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it-IT" dirty="0"/>
                  <a:t>Allora si ottiene lo stesso risultato del W-L subtree kernel (costituito dal prodotto scalare dei vettori feature)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𝑊𝐿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grow m:val="on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h</m:t>
                          </m:r>
                        </m:sup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Sup>
                            <m:sSub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𝑊𝐿𝑠𝑢𝑏𝑡𝑟𝑒𝑒</m:t>
                          </m:r>
                        </m:sub>
                        <m:sup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sup>
                      </m:sSubSup>
                      <m:d>
                        <m:dPr>
                          <m:sepChr m:val=",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e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44601768-49C9-CF0E-B19B-263197CC09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97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CB74523-40DB-49F9-D347-17DC110A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46999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B4ED4C-0920-1F4A-AB20-1E466DFB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subtree kernel su N grafi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20BE1A07-9AF0-1ABB-1120-19966A3C126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78" y="1845734"/>
                <a:ext cx="4575232" cy="3945466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Versione raffinata dell’algoritmo </a:t>
                </a:r>
                <a:r>
                  <a:rPr lang="it-IT" dirty="0" err="1"/>
                  <a:t>naive</a:t>
                </a:r>
                <a:r>
                  <a:rPr lang="it-IT" dirty="0"/>
                  <a:t>, in presenza di N grafi. Costruire la matrice kernel K richiederebbe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/>
                  <a:t> confronti fra coppie di grafi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Nuovo algoritmo elabora allo stesso tempo tutti i grafi.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Si calcola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/>
                  <a:t> per ogni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e si ottiene il vettore delle feature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d>
                          <m:d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Calcolare la matrice kernel diventa un prodotto scalare fra vettori di feature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in questo caso c’è bisogno di un unico alfabeto con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it-IT" dirty="0"/>
                  <a:t> simboli diversi (stima per eccesso).</a:t>
                </a:r>
              </a:p>
            </p:txBody>
          </p:sp>
        </mc:Choice>
        <mc:Fallback xmlns="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20BE1A07-9AF0-1ABB-1120-19966A3C12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78" y="1845734"/>
                <a:ext cx="4575232" cy="3945466"/>
              </a:xfrm>
              <a:blipFill>
                <a:blip r:embed="rId2"/>
                <a:stretch>
                  <a:fillRect l="-2929" t="-2009" b="-12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ECCDE9BD-65F9-C5EE-63FC-E61D0AD61D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2510" y="2823273"/>
            <a:ext cx="5482853" cy="2297367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B8F63D-F246-0344-85E0-DE34E55F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0623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18AAB9-649A-2DBE-3C86-E18A01BE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subtree kernel su N grafi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BEF7AD3-7FFE-6D62-2B17-75C5FFF162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Ogni iterazione del W-L deve trasformare le stringhe dei vicini in nuove etichette compresse tramite la funzione f.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Due modi per farlo: 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Ordinamento lessicografico: si implementa f in modo che ordini le stringhe (uguale algoritmo </a:t>
                </a:r>
                <a:r>
                  <a:rPr lang="it-IT" dirty="0" err="1"/>
                  <a:t>naive</a:t>
                </a:r>
                <a:r>
                  <a:rPr lang="it-IT" dirty="0"/>
                  <a:t>)</a:t>
                </a:r>
              </a:p>
              <a:p>
                <a:pPr marL="544068" lvl="1" indent="-342900">
                  <a:buFont typeface="+mj-lt"/>
                  <a:buAutoNum type="arabicPeriod"/>
                </a:pPr>
                <a:r>
                  <a:rPr lang="it-IT" dirty="0"/>
                  <a:t>Perfect </a:t>
                </a:r>
                <a:r>
                  <a:rPr lang="it-IT" dirty="0" err="1"/>
                  <a:t>hash</a:t>
                </a:r>
                <a:r>
                  <a:rPr lang="it-IT" dirty="0"/>
                  <a:t> </a:t>
                </a:r>
                <a:r>
                  <a:rPr lang="it-IT" dirty="0" err="1"/>
                  <a:t>function</a:t>
                </a:r>
                <a:r>
                  <a:rPr lang="it-IT" dirty="0"/>
                  <a:t>: nessuna collisione, si tratta di una funzione iniettiva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La differenza consiste nel prendere tutte le stringhe degli N grafi e ordinarle tutte (con </a:t>
                </a:r>
                <a:r>
                  <a:rPr lang="it-IT" dirty="0" err="1"/>
                  <a:t>radix</a:t>
                </a:r>
                <a:r>
                  <a:rPr lang="it-IT" dirty="0"/>
                  <a:t> sort) per ogni iterazione, infine assegnare le nuove etichette ai grafi.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 Complessità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Nm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Nm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BEF7AD3-7FFE-6D62-2B17-75C5FFF162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BEC2384-1B94-AF34-DE49-207A1E772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7367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E518E4-9EB2-409B-BFE6-4DB4B3600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subtree kernel su N grafi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4825927-F6B6-7DA1-AD71-97150841CE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Teorema:  </a:t>
                </a:r>
                <a:r>
                  <a:rPr lang="it-IT" dirty="0"/>
                  <a:t>per N grafi, W-L subtree kernel con h iterazioni su tutte le coppie di grafi può essere eseguito in tempo 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Nhm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+ 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hn</m:t>
                        </m:r>
                      </m:e>
                    </m:d>
                  </m:oMath>
                </a14:m>
                <a:endParaRPr lang="it-IT" i="1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i="1" dirty="0"/>
                  <a:t> Dimostrazione: </a:t>
                </a:r>
                <a:r>
                  <a:rPr lang="it-IT" dirty="0"/>
                  <a:t>applicazione </a:t>
                </a:r>
                <a:r>
                  <a:rPr lang="it-IT" dirty="0" err="1"/>
                  <a:t>naive</a:t>
                </a:r>
                <a:r>
                  <a:rPr lang="it-IT" dirty="0"/>
                  <a:t> del kernel per calcolare matrice kernel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</a:rPr>
                      <m:t>xN</m:t>
                    </m:r>
                  </m:oMath>
                </a14:m>
                <a:r>
                  <a:rPr lang="it-IT" dirty="0"/>
                  <a:t> richiede tempo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0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it-IT" i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it-IT" dirty="0"/>
                  <a:t>. Si migliora calcolando i vettori delle feature per ogni grafo e solo dopo si esegue il prodotto scalare. I primi due step richiedono tempo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Nm</m:t>
                        </m:r>
                      </m:e>
                    </m:d>
                  </m:oMath>
                </a14:m>
                <a:r>
                  <a:rPr lang="it-IT" dirty="0"/>
                  <a:t>. Per calcolare i vettori delle feature su N grafi in h iterazioni  richiede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</m:oMath>
                </a14:m>
                <a:r>
                  <a:rPr lang="it-IT" dirty="0"/>
                  <a:t>, assumendo m &gt; n. Calcolare i kernel richiede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hm</m:t>
                        </m:r>
                      </m:e>
                    </m:d>
                  </m:oMath>
                </a14:m>
                <a:r>
                  <a:rPr lang="it-IT" dirty="0"/>
                  <a:t>, ogni grafo G ha al più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i="1">
                        <a:latin typeface="Cambria Math" panose="02040503050406030204" pitchFamily="18" charset="0"/>
                      </a:rPr>
                      <m:t>h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it-IT" dirty="0"/>
                  <a:t> valori diversi da zero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Esistono varianti del W-L subtree kernel che confrontano i vicinati in modo approssimato (tramite </a:t>
                </a:r>
                <a:r>
                  <a:rPr lang="it-IT" dirty="0" err="1"/>
                  <a:t>hash</a:t>
                </a:r>
                <a:r>
                  <a:rPr lang="it-IT" dirty="0"/>
                  <a:t> e operazioni logiche) ma restano efficienti come l’originale (</a:t>
                </a:r>
                <a:r>
                  <a:rPr lang="it-IT" dirty="0" err="1"/>
                  <a:t>Hido</a:t>
                </a:r>
                <a:r>
                  <a:rPr lang="it-IT" dirty="0"/>
                  <a:t> e </a:t>
                </a:r>
                <a:r>
                  <a:rPr lang="it-IT" dirty="0" err="1"/>
                  <a:t>Kashima</a:t>
                </a:r>
                <a:r>
                  <a:rPr lang="it-IT" dirty="0"/>
                  <a:t>, 2009)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4825927-F6B6-7DA1-AD71-97150841CE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 r="-8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9032DC8-5089-4FED-5C3E-AF08053E5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08272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9815E6-2890-8F6F-9C9C-47137932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Ramon-Gartner subtree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AE6F889-0820-7BE8-5B1E-5383533E9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356946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Primo subtree kernel definito su grafi. Consideriamo tutte le coppie di nodi di G e G’, per ogni coppia confronta i subtree di altezza h che partono da quei nodi, il kernel equivale a: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RG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7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V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 m:alnAt="7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𝑅𝐺</m:t>
                                </m:r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’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con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 funzione uguale a 1 se argomenti son uguali, altrimenti uguale a 0;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pesi associati ai nodi v e v’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b="0" dirty="0"/>
                  <a:t>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 b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rappresenta tutti i possibili matching tra i vicini di due nodi nodi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ar-AE" b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it-IT" dirty="0"/>
                  <a:t>. Ogni elemento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b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 b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è un insieme di coppie di nodi con etichette uguali, dove ogni nodo può comparire in una sola coppia.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I parametri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it-IT" dirty="0"/>
                  <a:t> equivalgono a un singolo parametro che da un peso ad ogni pattern corrispondente 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 elevato al numero di nodi del pattern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Complessità: </a:t>
                </a:r>
                <a14:m>
                  <m:oMath xmlns:m="http://schemas.openxmlformats.org/officeDocument/2006/math">
                    <m:r>
                      <a:rPr lang="it-IT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per N grafi  richiede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h</m:t>
                        </m:r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</m:e>
                    </m:d>
                  </m:oMath>
                </a14:m>
                <a:endParaRPr lang="it-I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AE6F889-0820-7BE8-5B1E-5383533E9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356946"/>
              </a:xfrm>
              <a:blipFill>
                <a:blip r:embed="rId2"/>
                <a:stretch>
                  <a:fillRect l="-1455" t="-1538" r="-13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EF079B7-A34F-15AD-4924-2037F080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25</a:t>
            </a:fld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EED6803-0C31-719E-3E9E-AC9D5F191A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6168"/>
          <a:stretch>
            <a:fillRect/>
          </a:stretch>
        </p:blipFill>
        <p:spPr>
          <a:xfrm>
            <a:off x="1884944" y="2743201"/>
            <a:ext cx="5334462" cy="457199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2DC1C2D-3311-7075-D557-245558AE1C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983" y="3467308"/>
            <a:ext cx="4580017" cy="41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33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FF04C8-12D6-8140-F72A-BEBA9C658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Relazione con W-L subtree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84FCBF4-B8A3-7B66-9469-501B48076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4"/>
                <a:ext cx="10058400" cy="4358422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Può essere definito ricorsivamente così come viene fatto per il kernel di Ramon-Gartner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Teorema</a:t>
                </a:r>
                <a:r>
                  <a:rPr lang="it-IT" dirty="0"/>
                  <a:t>: Il kernel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</a:rPr>
                          <m:t>rec</m:t>
                        </m:r>
                      </m:sub>
                      <m:sup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definito come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 i="0" smtClean="0">
                            <a:latin typeface="Cambria Math" panose="02040503050406030204" pitchFamily="18" charset="0"/>
                          </a:rPr>
                          <m:t>rec</m:t>
                        </m:r>
                      </m:sub>
                      <m:sup>
                        <m:d>
                          <m:d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d>
                      <m:d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, </m:t>
                        </m:r>
                        <m:sSup>
                          <m:sSup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it-IT" i="1" smtClean="0">
                        <a:latin typeface="Cambria Math" panose="02040503050406030204" pitchFamily="18" charset="0"/>
                      </a:rPr>
                      <m:t> = </m:t>
                    </m:r>
                    <m:nary>
                      <m:naryPr>
                        <m:chr m:val="∑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 ∈ 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 ∈ </m:t>
                                </m:r>
                                <m:sSup>
                                  <m:sSup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it-IT">
                                        <a:latin typeface="Cambria Math" panose="02040503050406030204" pitchFamily="18" charset="0"/>
                                      </a:rPr>
                                      <m:t>rec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, 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, </m:t>
                                    </m:r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nary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m:rPr>
                                <m:nor/>
                              </m:rPr>
                              <a:rPr lang="ar-AE" dirty="0"/>
                              <m:t> </m:t>
                            </m:r>
                          </m:e>
                        </m:nary>
                        <m:r>
                          <a:rPr lang="it-IT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nary>
                    <m:r>
                      <a:rPr lang="it-IT" i="1" smtClean="0">
                        <a:latin typeface="Cambria Math" panose="02040503050406030204" pitchFamily="18" charset="0"/>
                      </a:rPr>
                      <m:t> </m:t>
                    </m:r>
                  </m:oMath>
                </a14:m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endParaRPr lang="it-IT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con </a:t>
                </a:r>
              </a:p>
              <a:p>
                <a:pPr marL="201168" lvl="1" indent="0">
                  <a:buNone/>
                </a:pPr>
                <a:endParaRPr lang="it-IT" dirty="0"/>
              </a:p>
              <a:p>
                <a:pPr marL="201168" lvl="1" indent="0">
                  <a:buNone/>
                </a:pPr>
                <a:endParaRPr lang="it-IT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  <a:p>
                <a:pPr algn="ctr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it-IT" dirty="0"/>
                  <a:t> Allora è equivalente al Weisfeiler-Lehman subtree kernel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subtree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</m:oMath>
                </a14:m>
                <a:endParaRPr lang="it-IT" dirty="0"/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rappresenta l’insieme di matching esatti dei vicinati di v e v’. Non vuoto solo nel caso in cui i nodi hanno lo stesso numero di vicini e i </a:t>
                </a:r>
                <a:r>
                  <a:rPr lang="it-IT" dirty="0" err="1"/>
                  <a:t>multiset</a:t>
                </a:r>
                <a:r>
                  <a:rPr lang="it-IT" dirty="0"/>
                  <a:t> coincidono.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84FCBF4-B8A3-7B66-9469-501B48076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4"/>
                <a:ext cx="10058400" cy="4358422"/>
              </a:xfrm>
              <a:blipFill>
                <a:blip r:embed="rId2"/>
                <a:stretch>
                  <a:fillRect l="-1455" t="-153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5B5BC3D-EEAD-581B-0DCF-E54D4565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26</a:t>
            </a:fld>
            <a:endParaRPr lang="it-IT"/>
          </a:p>
        </p:txBody>
      </p:sp>
      <p:pic>
        <p:nvPicPr>
          <p:cNvPr id="8" name="Immagine 7" descr="Immagine che contiene testo, Carattere, linea, schermata&#10;&#10;Il contenuto generato dall'IA potrebbe non essere corretto.">
            <a:extLst>
              <a:ext uri="{FF2B5EF4-FFF2-40B4-BE49-F238E27FC236}">
                <a16:creationId xmlns:a16="http://schemas.microsoft.com/office/drawing/2014/main" id="{FA731C07-8B3E-886D-DFC8-382EF70AF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19" y="2758400"/>
            <a:ext cx="5372361" cy="81605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21A7361-BDB2-D62D-F2C1-D1E3A45454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774" y="3912707"/>
            <a:ext cx="4686706" cy="480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90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F57A13-D1C0-3250-5CA9-EBA5EE879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Relazione con W-L subtree kernel (</a:t>
            </a:r>
            <a:r>
              <a:rPr lang="it-IT" dirty="0" err="1"/>
              <a:t>cont’d</a:t>
            </a:r>
            <a:r>
              <a:rPr lang="it-IT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95AB65B-8DBC-F08C-6185-F78FE3DFCA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463627"/>
              </a:xfrm>
            </p:spPr>
            <p:txBody>
              <a:bodyPr>
                <a:normAutofit fontScale="925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  <a:r>
                  <a:rPr lang="it-IT" i="1" dirty="0"/>
                  <a:t>Dimostrazione: </a:t>
                </a:r>
                <a:r>
                  <a:rPr lang="it-IT" dirty="0"/>
                  <a:t>per induzione su h. 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it-IT" dirty="0"/>
                  <a:t>Per h=0 facile vedere che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subtree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</a:rPr>
                          <m:t>rec</m:t>
                        </m:r>
                      </m:sub>
                      <m:sup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bSup>
                  </m:oMath>
                </a14:m>
                <a:r>
                  <a:rPr lang="it-IT" dirty="0"/>
                  <a:t> (prodotto scalare e poi Dirac kernel fra i </a:t>
                </a:r>
                <a:r>
                  <a:rPr lang="it-IT" dirty="0" err="1"/>
                  <a:t>multiset</a:t>
                </a:r>
                <a:r>
                  <a:rPr lang="it-IT" dirty="0"/>
                  <a:t> dei due nodi confrontati)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Passo induttivo h=h+1: assumiamo che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subtree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r>
                      <a:rPr lang="it-IT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</a:rPr>
                          <m:t>rec</m:t>
                        </m:r>
                      </m:sub>
                      <m:sup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</m:oMath>
                </a14:m>
                <a:r>
                  <a:rPr lang="it-IT" dirty="0"/>
                  <a:t>. Allora</a:t>
                </a:r>
              </a:p>
              <a:p>
                <a:pPr marL="201168" lvl="1" indent="0" algn="ctr">
                  <a:lnSpc>
                    <a:spcPct val="100000"/>
                  </a:lnSpc>
                  <a:buNone/>
                </a:pPr>
                <a:r>
                  <a:rPr lang="it-IT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</a:rPr>
                          <m:t>rec</m:t>
                        </m:r>
                      </m:sub>
                      <m:sup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it-IT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 ∈ 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 ∈ </m:t>
                            </m:r>
                            <m:sSup>
                              <m:sSup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sub>
                          <m:sup/>
                          <m:e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it-IT">
                                    <a:latin typeface="Cambria Math" panose="02040503050406030204" pitchFamily="18" charset="0"/>
                                  </a:rPr>
                                  <m:t>rec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r>
                                  <m:rPr>
                                    <m:sty m:val="p"/>
                                  </m:r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, </m:t>
                                </m:r>
                                <m:sSup>
                                  <m:sSup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</m:d>
                          </m:e>
                        </m:nary>
                      </m:e>
                    </m:nary>
                    <m:r>
                      <a:rPr lang="it-IT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 </m:t>
                    </m:r>
                    <m:nary>
                      <m:naryPr>
                        <m:chr m:val="∑"/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it-IT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 ∈ </m:t>
                            </m:r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p>
                                  <m:sSup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 ∈ </m:t>
                                </m:r>
                                <m:sSup>
                                  <m:sSup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p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m:rPr>
                                        <m:nor/>
                                      </m:rPr>
                                      <a:rPr lang="it-IT">
                                        <a:latin typeface="Cambria Math" panose="02040503050406030204" pitchFamily="18" charset="0"/>
                                      </a:rPr>
                                      <m:t>rec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, 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  <m:t>, </m:t>
                                    </m:r>
                                    <m:sSup>
                                      <m:sSupPr>
                                        <m:ctrlP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p>
                                        <m:r>
                                          <a:rPr lang="it-IT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nary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 </m:t>
                            </m:r>
                            <m:r>
                              <m:rPr>
                                <m:nor/>
                              </m:rPr>
                              <a:rPr lang="ar-AE" dirty="0"/>
                              <m:t> </m:t>
                            </m:r>
                          </m:e>
                        </m:nary>
                        <m:r>
                          <a:rPr lang="it-IT" i="1">
                            <a:latin typeface="Cambria Math" panose="02040503050406030204" pitchFamily="18" charset="0"/>
                          </a:rPr>
                          <m:t> </m:t>
                        </m:r>
                      </m:e>
                    </m:nary>
                    <m:r>
                      <a:rPr lang="it-IT" b="0" i="1" smtClean="0">
                        <a:latin typeface="Cambria Math" panose="02040503050406030204" pitchFamily="18" charset="0"/>
                      </a:rPr>
                      <m:t> = </m:t>
                    </m:r>
                    <m:nary>
                      <m:naryPr>
                        <m:chr m:val="∑"/>
                        <m:limLoc m:val="subSup"/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5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5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e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it-IT" b="0" i="0" smtClean="0">
                                    <a:latin typeface="Cambria Math" panose="02040503050406030204" pitchFamily="18" charset="0"/>
                                  </a:rPr>
                                  <m:t>j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it-IT" b="0" i="1" smtClean="0">
                        <a:latin typeface="Cambria Math" panose="02040503050406030204" pitchFamily="18" charset="0"/>
                      </a:rPr>
                      <m:t> + 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subtree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r>
                      <a:rPr lang="it-IT" b="0" i="1" smtClean="0">
                        <a:latin typeface="Cambria Math" panose="02040503050406030204" pitchFamily="18" charset="0"/>
                      </a:rPr>
                      <m:t> =</m:t>
                    </m:r>
                    <m:sSubSup>
                      <m:sSub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𝑊𝐿</m:t>
                        </m:r>
                        <m:r>
                          <m:rPr>
                            <m:sty m:val="p"/>
                          </m:rPr>
                          <a:rPr lang="it-IT" i="1">
                            <a:latin typeface="Cambria Math" panose="02040503050406030204" pitchFamily="18" charset="0"/>
                          </a:rPr>
                          <m:t>subtree</m:t>
                        </m:r>
                      </m:sub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endParaRPr lang="it-IT" dirty="0"/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 Notiamo che il W-L kernel considera tutti i subtree con altezza al massimo h, mentre Ramon-Gartner calcola i subtree di altezza esattamente h.</a:t>
                </a: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 Inoltre, in W-L,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>
                            <a:latin typeface="Cambria Math" panose="02040503050406030204" pitchFamily="18" charset="0"/>
                          </a:rPr>
                          <m:t>rec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, 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it-IT" i="1">
                            <a:latin typeface="Cambria Math" panose="02040503050406030204" pitchFamily="18" charset="0"/>
                          </a:rPr>
                          <m:t>, </m:t>
                        </m:r>
                        <m:sSup>
                          <m:sSup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controllano che i vicinati di v e v’ corrispondono, mentre Ramon-Gartner considera tutti i possibili sottoinsiemi corrispondenti fra i vicinati dei due nodi</a:t>
                </a:r>
              </a:p>
              <a:p>
                <a:pPr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it-IT" dirty="0"/>
                  <a:t> W-L rinuncia alla flessibilità in cambio di una complessità molto minore del kernel di Ramon-Gartner (esponenziale)</a:t>
                </a:r>
              </a:p>
              <a:p>
                <a:pPr marL="201168" lvl="1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95AB65B-8DBC-F08C-6185-F78FE3DFCA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463627"/>
              </a:xfrm>
              <a:blipFill>
                <a:blip r:embed="rId2"/>
                <a:stretch>
                  <a:fillRect l="-1333" t="-1366" r="-909" b="-123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986D43F-D927-4F4C-59F7-E6415272C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129968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A02335-21CC-C8AA-BE6F-26BE08BB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Weisfeiler-Lehman shortest-path kernel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4BD6892-9BD3-CB20-4C69-C5E05C5551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Istanza della famiglia generale dei kernel Weisfeiler-Lehman subtree. Kernel base è un kernel shortest-path su grafi etichettati.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Nel caso particolare di grafi con archi non pesati, consideriamo un </a:t>
                </a:r>
                <a:r>
                  <a:rPr lang="it-IT" i="1" dirty="0"/>
                  <a:t>base kernel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</m:oMath>
                </a14:m>
                <a:r>
                  <a:rPr lang="it-IT" dirty="0"/>
                  <a:t> definito come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𝑆𝑃</m:t>
                            </m:r>
                          </m:sub>
                        </m:sSub>
                      </m:e>
                      <m:e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d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𝑆𝑃</m:t>
                            </m:r>
                          </m:sub>
                        </m:sSub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p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it-IT" dirty="0"/>
                  <a:t> dove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it-IT" dirty="0"/>
                  <a:t>è un vettore le cui componenti rappresentano il numero di occorrenze dei triplette (a, b, p) nel grafo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it-IT" dirty="0"/>
                  <a:t> in cui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it-IT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b</m:t>
                    </m:r>
                    <m:r>
                      <a:rPr lang="it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dirty="0"/>
                  <a:t> sono le etichette (iniziale e finale) dei nodi estremi del cammino,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it-IT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a:rPr lang="it-IT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/>
                  <a:t>​ è la lunghezza del cammino minimo che li collega.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Secondo la definizione di sequenze di Weisfeiler-Lehman:			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WL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shortest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path</m:t>
                        </m:r>
                      </m:sub>
                      <m:sup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sup>
                    </m:sSubSup>
                    <m:r>
                      <a:rPr lang="it-IT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</m:e>
                      <m:e>
                        <m:sSubSup>
                          <m:sSub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  <m:sup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lang="it-IT" dirty="0"/>
                  <a:t> </a:t>
                </a:r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4BD6892-9BD3-CB20-4C69-C5E05C5551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03507FB-6ADC-0620-F7A8-C04F6E42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4320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289161-0067-7EF4-7A82-0BA06C43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Weisfeiler-Lehman shortest-path kernel (complessità)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13A8F36-6484-7F72-59B4-E0F443729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614051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Algoritmo Floyd-</a:t>
                </a:r>
                <a:r>
                  <a:rPr lang="it-IT" dirty="0" err="1"/>
                  <a:t>Warshall</a:t>
                </a:r>
                <a:r>
                  <a:rPr lang="it-IT" dirty="0"/>
                  <a:t> per cammini minimi richiede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, con N grafi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. Topologia non cambia quindi lo eseguo solo una volta; per archi non pesati si usa la distanza geodetica. Indichiamo con P il numero di lunghezze distinte di cammini minimi complessive nell’insieme di grafi.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Dirac kernel 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δ, 1 se lunghezze dei cammini minimi sono uguali, 0 altrimenti.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Nel 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relabeling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dell’iterazione i il numero di triplette (</a:t>
                </a:r>
                <a:r>
                  <a:rPr lang="it-IT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a,b,p</a:t>
                </a:r>
                <a:r>
                  <a:rPr lang="it-IT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è limitato da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>
                            <a:latin typeface="Cambria Math" panose="020405030504060302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it-IT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it-IT">
                            <a:latin typeface="Cambria Math" panose="02040503050406030204" pitchFamily="18" charset="0"/>
                          </a:rPr>
                          <m:t>∣</m:t>
                        </m:r>
                        <m:d>
                          <m:dPr>
                            <m:ctrlPr>
                              <a:rPr lang="it-IT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∣</m:t>
                            </m:r>
                            <m:sSub>
                              <m:sSubPr>
                                <m:ctrlPr>
                                  <a:rPr lang="it-IT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b>
                                <m:r>
                                  <a:rPr lang="it-IT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∣+</m:t>
                            </m:r>
                            <m:r>
                              <a:rPr lang="it-IT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num>
                      <m:den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it-IT" b="0" i="1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endParaRPr lang="it-IT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Si noti che </a:t>
                </a:r>
                <a14:m>
                  <m:oMath xmlns:m="http://schemas.openxmlformats.org/officeDocument/2006/math">
                    <m:r>
                      <a:rPr lang="it-IT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>
                        <a:latin typeface="Cambria Math" panose="02040503050406030204" pitchFamily="18" charset="0"/>
                      </a:rPr>
                      <m:t>∣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≤</m:t>
                    </m:r>
                    <m:r>
                      <a:rPr lang="it-IT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mtClean="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r>
                  <a:rPr lang="it-IT" dirty="0"/>
                  <a:t>. Quindi il vettore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it-IT" dirty="0"/>
                  <a:t> diventa sempre più grande e il calcolo del prodotto scalare sempre più costoso ad ogni iterazione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I casi più generali hanno pesi diversi per ogni arco, quindi l’alfabeto cresce troppo. Feature </a:t>
                </a:r>
                <a:r>
                  <a:rPr lang="it-IT" dirty="0" err="1"/>
                  <a:t>map</a:t>
                </a:r>
                <a:r>
                  <a:rPr lang="it-IT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𝑆𝑃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it-IT" dirty="0"/>
                  <a:t> troppo grande, non si può più considerare come elenco delle triplette del grafo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Soluzione: calcolare il kernel direttamente confrontando tutte le coppie di cammini minimi fra grafi. Ogni grafo ha circa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cammini minimi, quindi per confrontate due grafi devo valutare tutti i cammini di G con quelli di G’ che richiede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operazioni. </a:t>
                </a:r>
                <a14:m>
                  <m:oMath xmlns:m="http://schemas.openxmlformats.org/officeDocument/2006/math">
                    <m:r>
                      <a:rPr lang="it-IT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it-IT" b="0" i="1" smtClean="0">
                            <a:latin typeface="Cambria Math" panose="02040503050406030204" pitchFamily="18" charset="0"/>
                          </a:rPr>
                          <m:t>N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it-IT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it-IT" b="0" i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</m:oMath>
                </a14:m>
                <a:r>
                  <a:rPr lang="it-IT" dirty="0"/>
                  <a:t> per N grafi.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513A8F36-6484-7F72-59B4-E0F443729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614051"/>
              </a:xfrm>
              <a:blipFill>
                <a:blip r:embed="rId2"/>
                <a:stretch>
                  <a:fillRect l="-1455" t="-1982" r="-54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4A52459-8732-3950-E695-C78F87D51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29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15092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889780-9E8E-F197-1242-464590534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Sperimentazioni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3E8656C-ED66-AE25-2918-3437A8131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DDF8B4B-99EF-C42C-9132-507AC2F8B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549996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1110DE-0E6D-A799-CAD1-35ACAD3C9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700" dirty="0"/>
              <a:t>Runtime of Weisfeiler-Lehman subtree kernel (setup)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787652A-A237-7A4C-3C2F-DCBB7E655C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Confronto fra due varianti del W-L subtree kernel. La prima («</a:t>
                </a:r>
                <a:r>
                  <a:rPr lang="it-IT" dirty="0" err="1"/>
                  <a:t>pairwise</a:t>
                </a:r>
                <a:r>
                  <a:rPr lang="it-IT" dirty="0"/>
                  <a:t>») calcola il kernel per coppie di grafi, mentre la seconda («global») calcola il kernel in parallelo su tutto il dataset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Si valuta il comportamento su </a:t>
                </a:r>
                <a:r>
                  <a:rPr lang="it-IT" i="1" dirty="0"/>
                  <a:t>N</a:t>
                </a:r>
                <a:r>
                  <a:rPr lang="it-IT" dirty="0"/>
                  <a:t> grafi random, </a:t>
                </a:r>
                <a:r>
                  <a:rPr lang="it-IT" i="1" dirty="0"/>
                  <a:t>n</a:t>
                </a:r>
                <a:r>
                  <a:rPr lang="it-IT" dirty="0"/>
                  <a:t> nodi, subtree </a:t>
                </a:r>
                <a:r>
                  <a:rPr lang="it-IT" dirty="0" err="1"/>
                  <a:t>height</a:t>
                </a:r>
                <a:r>
                  <a:rPr lang="it-IT" dirty="0"/>
                  <a:t> </a:t>
                </a:r>
                <a:r>
                  <a:rPr lang="it-IT" i="1" dirty="0"/>
                  <a:t>h</a:t>
                </a:r>
                <a:r>
                  <a:rPr lang="it-IT" dirty="0"/>
                  <a:t>, </a:t>
                </a:r>
                <a:r>
                  <a:rPr lang="it-IT" dirty="0" err="1"/>
                  <a:t>graph</a:t>
                </a:r>
                <a:r>
                  <a:rPr lang="it-IT" dirty="0"/>
                  <a:t> </a:t>
                </a:r>
                <a:r>
                  <a:rPr lang="it-IT" dirty="0" err="1"/>
                  <a:t>density</a:t>
                </a:r>
                <a:r>
                  <a:rPr lang="it-IT" dirty="0"/>
                  <a:t> </a:t>
                </a:r>
                <a:r>
                  <a:rPr lang="it-IT" i="1" dirty="0"/>
                  <a:t>c </a:t>
                </a:r>
                <a:r>
                  <a:rPr lang="it-IT" dirty="0"/>
                  <a:t>(per un grafo indiretto definita come numero archi diviso </a:t>
                </a:r>
                <a14:m>
                  <m:oMath xmlns:m="http://schemas.openxmlformats.org/officeDocument/2006/math">
                    <m:r>
                      <a:rPr lang="it-IT" b="0" i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it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it-IT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it-IT" b="0" i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it-IT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it-IT" dirty="0"/>
                  <a:t> 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Valori di default: N=10, n=100, h=4, c=0.4. Variano per sperimentazioni più dettagliate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Per ogni sperimentazione si generano N grafi con n nodi, con inserimento randomico di		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⌊</m:t>
                    </m:r>
                    <m:r>
                      <a:rPr lang="it-IT" i="1" dirty="0" err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)/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it-IT" i="1" dirty="0" smtClean="0">
                        <a:latin typeface="Cambria Math" panose="02040503050406030204" pitchFamily="18" charset="0"/>
                      </a:rPr>
                      <m:t>⌋ </m:t>
                    </m:r>
                  </m:oMath>
                </a14:m>
                <a:r>
                  <a:rPr lang="it-IT" dirty="0"/>
                  <a:t>archi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9787652A-A237-7A4C-3C2F-DCBB7E655C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55" t="-1667" r="-4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E38A07C-10F0-9207-D850-A208BCF2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7834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F09D01-C701-A9C7-6303-63201502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 dirty="0"/>
              <a:t>Runtime of Weisfeiler-Lehman subtree kernel (risultati)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B2C4DCB-104F-F639-547D-96502B0CEFB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7278" y="1845733"/>
                <a:ext cx="4937760" cy="4314435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Osserviamo che il kernel «</a:t>
                </a:r>
                <a:r>
                  <a:rPr lang="it-IT" dirty="0" err="1"/>
                  <a:t>pairwise</a:t>
                </a:r>
                <a:r>
                  <a:rPr lang="it-IT" dirty="0"/>
                  <a:t>» cresce </a:t>
                </a:r>
                <a:r>
                  <a:rPr lang="it-IT" dirty="0" err="1"/>
                  <a:t>quadraticamente</a:t>
                </a:r>
                <a:r>
                  <a:rPr lang="it-IT" dirty="0"/>
                  <a:t> su </a:t>
                </a:r>
                <a14:m>
                  <m:oMath xmlns:m="http://schemas.openxmlformats.org/officeDocument/2006/math">
                    <m:r>
                      <a:rPr lang="it-IT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it-IT" dirty="0"/>
                  <a:t> grafi, mentre quello «global» scala linearmente su </a:t>
                </a:r>
                <a14:m>
                  <m:oMath xmlns:m="http://schemas.openxmlformats.org/officeDocument/2006/math">
                    <m:r>
                      <a:rPr lang="it-IT" i="1" dirty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it-IT" dirty="0"/>
                  <a:t>, nonostante ci eseguano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dirty="0"/>
                  <a:t> operazioni per calcolare la matrice kernel K.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Variando il numero di nodi il runtime dei kernel scala </a:t>
                </a:r>
                <a:r>
                  <a:rPr lang="it-IT" dirty="0" err="1"/>
                  <a:t>quadraticamente</a:t>
                </a:r>
                <a:r>
                  <a:rPr lang="it-IT" dirty="0"/>
                  <a:t> con n, tuttavia il kernel «global» è molto più veloce, concorde col fatto che i kernel dipendono linearmente dal numero di archi m.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Su h i kernel crescono linearmente, ma quello «global» costa molto meno del «</a:t>
                </a:r>
                <a:r>
                  <a:rPr lang="it-IT" dirty="0" err="1"/>
                  <a:t>pairwise</a:t>
                </a:r>
                <a:r>
                  <a:rPr lang="it-IT" dirty="0"/>
                  <a:t>»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it-IT" dirty="0"/>
                  <a:t> Vale lo stesso per il runtime rispetto a c.</a:t>
                </a:r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BB2C4DCB-104F-F639-547D-96502B0CE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7278" y="1845733"/>
                <a:ext cx="4937760" cy="4314435"/>
              </a:xfrm>
              <a:blipFill>
                <a:blip r:embed="rId2"/>
                <a:stretch>
                  <a:fillRect l="-2963" t="-1554" r="-38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Segnaposto contenuto 8" descr="Immagine che contiene testo, line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4AD6B642-2EEF-AAFF-490F-9822B43A2D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173866"/>
            <a:ext cx="4937125" cy="3367519"/>
          </a:xfrm>
        </p:spPr>
      </p:pic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026A99E-2184-88A5-F9D5-3C17C5B6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13360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2685F2-96AE-F840-61F9-E207499F4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(dataset)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093FA2D-95F7-47EF-5C98-D26A1653C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9089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Confronto delle performance fra W-L subtree/</a:t>
            </a:r>
            <a:r>
              <a:rPr lang="it-IT" dirty="0" err="1"/>
              <a:t>shortest-path</a:t>
            </a:r>
            <a:r>
              <a:rPr lang="it-IT" dirty="0"/>
              <a:t> kernels e altri </a:t>
            </a:r>
            <a:r>
              <a:rPr lang="it-IT" dirty="0" err="1"/>
              <a:t>graph</a:t>
            </a:r>
            <a:r>
              <a:rPr lang="it-IT" dirty="0"/>
              <a:t> kernel considerati stato dell’arte.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Dataset utilizzati: MUTAG, NCI1, NCI109, ENZYMES, D&amp;D.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MUTAG: 188 composti aromatici e </a:t>
            </a:r>
            <a:r>
              <a:rPr lang="it-IT" dirty="0" err="1"/>
              <a:t>eteroaromatici</a:t>
            </a:r>
            <a:r>
              <a:rPr lang="it-IT" dirty="0"/>
              <a:t> nitro con proprietà mutagene, etichettati se hanno o meno effetto mutageno sul batterio della salmonella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NCI1, NCI109: classificano i composti in base al fatto che siano o meno attivi in un test anticancro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ENZYMES: dataset di strutture terziarie di proteine contenente 600 enzimi. Assegnare correttamente ogni enzima a una delle 6 classi di livello superiore del codice EC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D&amp;D: dataset composto da 1178 strutture proteiche. Ogni proteine è un grafo, nodi sono gli amminoacidi, due nodi hanno un arco se sono a meno di 6 Angstrom di distanza. Obiettivo classificare le strutture in enzimi o non enzimi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6F2461-F4E1-D81D-74D9-E96E6EF4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4835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A8D4A3-39D7-FB26-0D28-EB4D6C960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(setup)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6C70B8-AEAC-9AC4-0C92-CF741C7A2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4277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Confronto fra W-L subtree kernel e W-L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 con il Ramon-Gartner kernel e altri kernel stato dell’arte per grafi di grandi dimensioni.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Della famiglia di kernel basati su cammini (</a:t>
            </a:r>
            <a:r>
              <a:rPr lang="it-IT" i="1" dirty="0" err="1"/>
              <a:t>walks</a:t>
            </a:r>
            <a:r>
              <a:rPr lang="it-IT" dirty="0"/>
              <a:t>)  confrontiamo con il fast </a:t>
            </a:r>
            <a:r>
              <a:rPr lang="it-IT" dirty="0" err="1"/>
              <a:t>geometric</a:t>
            </a:r>
            <a:r>
              <a:rPr lang="it-IT" dirty="0"/>
              <a:t> random </a:t>
            </a:r>
            <a:r>
              <a:rPr lang="it-IT" dirty="0" err="1"/>
              <a:t>walk</a:t>
            </a:r>
            <a:r>
              <a:rPr lang="it-IT" dirty="0"/>
              <a:t> kernel (</a:t>
            </a:r>
            <a:r>
              <a:rPr lang="it-IT" dirty="0" err="1"/>
              <a:t>Vishwanathan</a:t>
            </a:r>
            <a:r>
              <a:rPr lang="it-IT" dirty="0"/>
              <a:t> et al., 2010) e con p-Random </a:t>
            </a:r>
            <a:r>
              <a:rPr lang="it-IT" dirty="0" err="1"/>
              <a:t>walk</a:t>
            </a:r>
            <a:r>
              <a:rPr lang="it-IT" dirty="0"/>
              <a:t> kernel </a:t>
            </a:r>
            <a:r>
              <a:rPr lang="da-DK" dirty="0"/>
              <a:t>(Kashima et al., 2003; Gärtner et al., 2003)</a:t>
            </a:r>
            <a:endParaRPr lang="it-IT" dirty="0"/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Dei kernel basati su </a:t>
            </a:r>
            <a:r>
              <a:rPr lang="it-IT" dirty="0" err="1"/>
              <a:t>sottografi</a:t>
            </a:r>
            <a:r>
              <a:rPr lang="it-IT" dirty="0"/>
              <a:t> di piccole dimensioni analizziamo il </a:t>
            </a:r>
            <a:r>
              <a:rPr lang="it-IT" dirty="0" err="1"/>
              <a:t>graphlet</a:t>
            </a:r>
            <a:r>
              <a:rPr lang="it-IT" dirty="0"/>
              <a:t> kernel esteso (</a:t>
            </a:r>
            <a:r>
              <a:rPr lang="it-IT" dirty="0" err="1"/>
              <a:t>Shervashidze</a:t>
            </a:r>
            <a:r>
              <a:rPr lang="it-IT" dirty="0"/>
              <a:t> et al.,2009)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Dei kernel basati su percorsi (</a:t>
            </a:r>
            <a:r>
              <a:rPr lang="it-IT" i="1" dirty="0" err="1"/>
              <a:t>path</a:t>
            </a:r>
            <a:r>
              <a:rPr lang="it-IT" dirty="0"/>
              <a:t>) misuriamo lo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 (</a:t>
            </a:r>
            <a:r>
              <a:rPr lang="it-IT" dirty="0" err="1"/>
              <a:t>Borgwardt</a:t>
            </a:r>
            <a:r>
              <a:rPr lang="it-IT" dirty="0"/>
              <a:t> &amp; </a:t>
            </a:r>
            <a:r>
              <a:rPr lang="it-IT" dirty="0" err="1"/>
              <a:t>Kriegel</a:t>
            </a:r>
            <a:r>
              <a:rPr lang="it-IT" dirty="0"/>
              <a:t>, 2005)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Se possibile viene usato lo schema di computazione rapida basato sul calcolo esplicito dei vettori di feature e infine calcolo il prodotto scalare (in particolare per </a:t>
            </a:r>
            <a:r>
              <a:rPr lang="it-IT" dirty="0" err="1"/>
              <a:t>graphlet</a:t>
            </a:r>
            <a:r>
              <a:rPr lang="it-IT" dirty="0"/>
              <a:t> e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DDB247-A8EB-4DDD-ED21-DADDADA48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063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5EB949-8E80-7DF5-5EC2-20BCD27B6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(setup)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84E51E-FA4F-C559-2FCB-27FD1B2E8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Graphlet</a:t>
            </a:r>
            <a:r>
              <a:rPr lang="it-IT" dirty="0"/>
              <a:t> kernel: esistono solo 4 tipi diversi di </a:t>
            </a:r>
            <a:r>
              <a:rPr lang="it-IT" dirty="0" err="1"/>
              <a:t>graphlet</a:t>
            </a:r>
            <a:r>
              <a:rPr lang="it-IT" dirty="0"/>
              <a:t> con 3 nodi connessi. Per ogni tipo si può determinare il numero di </a:t>
            </a:r>
            <a:r>
              <a:rPr lang="it-IT" dirty="0" err="1"/>
              <a:t>etichettamenti</a:t>
            </a:r>
            <a:r>
              <a:rPr lang="it-IT" dirty="0"/>
              <a:t> possibili dei tre nodi come funzione della dimensione dell’alfabeto delle etichette dei nodi.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kernel: feature </a:t>
            </a:r>
            <a:r>
              <a:rPr lang="it-IT" dirty="0" err="1"/>
              <a:t>map</a:t>
            </a:r>
            <a:r>
              <a:rPr lang="it-IT" dirty="0"/>
              <a:t> esplicita può esistere oppure no. Nel paper archi non pesati, quindi numeri di archi in un percorso come misura della sua lunghezza e Dirac kernel sulle distanze dei cammini minimi. Questo ha permesso di calcolare esplicitamente la feature </a:t>
            </a:r>
            <a:r>
              <a:rPr lang="it-IT" dirty="0" err="1"/>
              <a:t>map</a:t>
            </a:r>
            <a:r>
              <a:rPr lang="it-IT" dirty="0"/>
              <a:t> corrispondente allo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 per ogni grafo.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4A1E028-9DD3-F5D2-23BA-A79E5A11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61766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DFA705-B43A-BD81-916B-17F05E156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(setup)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4B2005-4542-4765-6E8C-73D3B4E40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684153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Eseguita una 10-fold cross-</a:t>
            </a:r>
            <a:r>
              <a:rPr lang="it-IT" dirty="0" err="1"/>
              <a:t>validation</a:t>
            </a:r>
            <a:r>
              <a:rPr lang="it-IT" dirty="0"/>
              <a:t> con C-SVM usando LIBSVM, 9 </a:t>
            </a:r>
            <a:r>
              <a:rPr lang="it-IT" dirty="0" err="1"/>
              <a:t>fold</a:t>
            </a:r>
            <a:r>
              <a:rPr lang="it-IT" dirty="0"/>
              <a:t> per il training e 1 per il test, esperimento eseguito 10 volte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Parametro h scelto tramite cross-</a:t>
            </a:r>
            <a:r>
              <a:rPr lang="it-IT" dirty="0" err="1"/>
              <a:t>validation</a:t>
            </a:r>
            <a:r>
              <a:rPr lang="it-IT" dirty="0"/>
              <a:t> su training set (h da 1 a 10), valori piccoli di h hanno dato prestazioni migliori su tutti i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calcolate 10 matrici kernel per ogni esperimento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  <p:pic>
        <p:nvPicPr>
          <p:cNvPr id="7" name="Segnaposto contenuto 6" descr="Immagine che contiene testo, numero, schermata, Carattere">
            <a:extLst>
              <a:ext uri="{FF2B5EF4-FFF2-40B4-BE49-F238E27FC236}">
                <a16:creationId xmlns:a16="http://schemas.microsoft.com/office/drawing/2014/main" id="{F7308F7B-1A56-72B1-DC42-4D502DBA37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431" y="1846263"/>
            <a:ext cx="5334678" cy="4416885"/>
          </a:xfrm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1584EFD-98FB-AA69-4312-7B704954B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83803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229FE6-CF44-998D-7212-845EBC48B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(risultati)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A78305-E7A3-8188-E109-D864EDE0A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614051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W-L subtree kernel scala bene anche su grafi con migliaia di nodi. Su D&amp;D, sottostrutture calcolate in 11 minuti, nessun altro kernel ha gestito lo stesso dataset in meno di mezz’ora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e W-L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hanno ottenuto prestazioni comparabili al W-L subtree su grafi più piccoli (su D&amp;D tempi più alti)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Ramon-Gartner calcolabile su MUTAG in circa 40 minuti, ma non utilizzabile nei restanti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Random </a:t>
            </a:r>
            <a:r>
              <a:rPr lang="it-IT" dirty="0" err="1"/>
              <a:t>walk</a:t>
            </a:r>
            <a:r>
              <a:rPr lang="it-IT" dirty="0"/>
              <a:t> kernel ha mostrato tempi competitivi su MUTAG E ENZYMES, ma non sui restanti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</a:t>
            </a:r>
            <a:r>
              <a:rPr lang="it-IT" dirty="0" err="1"/>
              <a:t>Graphlet</a:t>
            </a:r>
            <a:r>
              <a:rPr lang="it-IT" dirty="0"/>
              <a:t> kernel più veloce di W-L kernel su MUTAG e NCI, ma tre volte più lento su D&amp;D. Tuttavia scarsi livelli di accuratezza su quattro dataset analizzati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Su NCI ed ENZYMES, W-L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 ha raggiunto l’accuratezza più alta, W-L subtree kernel ha il secondo miglior risultato.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Risultati simili e buoni su D&amp;D per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e </a:t>
            </a:r>
            <a:r>
              <a:rPr lang="it-IT" dirty="0" err="1"/>
              <a:t>graphlet</a:t>
            </a:r>
            <a:r>
              <a:rPr lang="it-IT" dirty="0"/>
              <a:t> kernel, mentre su NCI il W-L subtree kernel ha superato in accuratezza tutti gli altri metodi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Su MUTAG, i kernel W-L hanno la terza e quarta migliore accuratezza, </a:t>
            </a:r>
            <a:r>
              <a:rPr lang="it-IT" dirty="0" err="1"/>
              <a:t>graphlet</a:t>
            </a:r>
            <a:r>
              <a:rPr lang="it-IT" dirty="0"/>
              <a:t> kernel bassa accuratezza in generale.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In generale random </a:t>
            </a:r>
            <a:r>
              <a:rPr lang="it-IT" dirty="0" err="1"/>
              <a:t>walk</a:t>
            </a:r>
            <a:r>
              <a:rPr lang="it-IT" dirty="0"/>
              <a:t>, p-Random </a:t>
            </a:r>
            <a:r>
              <a:rPr lang="it-IT" dirty="0" err="1"/>
              <a:t>walk</a:t>
            </a:r>
            <a:r>
              <a:rPr lang="it-IT" dirty="0"/>
              <a:t> e Ramon–</a:t>
            </a:r>
            <a:r>
              <a:rPr lang="it-IT" dirty="0" err="1"/>
              <a:t>Gärtner</a:t>
            </a:r>
            <a:r>
              <a:rPr lang="it-IT" dirty="0"/>
              <a:t> kernels si sono rivelati meno competitivi degli altri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910A9C9-90C2-5F12-3FAB-9D18736B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6492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9128692-CE3E-B021-A4AA-3BD9E7B6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Graph</a:t>
            </a:r>
            <a:r>
              <a:rPr lang="it-IT" dirty="0"/>
              <a:t> </a:t>
            </a:r>
            <a:r>
              <a:rPr lang="it-IT" dirty="0" err="1"/>
              <a:t>classification</a:t>
            </a:r>
            <a:r>
              <a:rPr lang="it-IT" dirty="0"/>
              <a:t> (sintesi risultati)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0D94F0-8729-3B2E-E579-9B713D2C9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Weisfeiler-Lehman subtree kernel: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Efficiente e scalabile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Più veloce di quasi tutti gli altri kernel su grandi dataset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Accurato e stabile su tutti i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Weisfeiler-Lehman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/>
              <a:t>Ha raggiunto le migliori accuratezze complessive (3/5 dataset)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dirty="0" err="1"/>
              <a:t>Computazionalmente</a:t>
            </a:r>
            <a:r>
              <a:rPr lang="it-IT" dirty="0"/>
              <a:t> più costoso su grafi di grandi dimensioni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Quindi W-L kernel sono un ottimo compromesso fra efficienza e accuratezza, subtree kernel ideale per grandi dataset e </a:t>
            </a:r>
            <a:r>
              <a:rPr lang="it-IT" dirty="0" err="1"/>
              <a:t>shortest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kernel adatto a massimizzare la precisione su grafi di dimensioni ridotte.</a:t>
            </a:r>
          </a:p>
          <a:p>
            <a:pPr>
              <a:buFont typeface="Arial" panose="020B0604020202020204" pitchFamily="34" charset="0"/>
              <a:buChar char="•"/>
            </a:pP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9A4A628-6D03-9961-EC03-DE3B96CE5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08229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F7A9A8-73F6-D31E-0725-A0C4DFD2C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it-IT" dirty="0"/>
              <a:t>Conclusioni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335EEA8-DAF3-FBA3-53D2-1DAA4318F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ED7AFB-833C-46EB-7433-61F1DA0B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39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02886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FC433C-F500-74AB-01F6-F6429BB25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A3BBBF-1CCE-0DAD-810D-7ACD18CD6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Definito modi per costruire </a:t>
            </a:r>
            <a:r>
              <a:rPr lang="it-IT" dirty="0" err="1"/>
              <a:t>graph</a:t>
            </a:r>
            <a:r>
              <a:rPr lang="it-IT" dirty="0"/>
              <a:t> kernel su grafi con nodi etichettati e non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Tra le istanze di questo framework il subtree kernel unisce scalabilità ed efficacia nell’uso delle etichette dei nodi.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I kernel studiati dagli autori risultano competitivi in accuratezza rispetto ai metodi più avanzati, raggiungendo la migliore precisione su 4 dei 5 dataset testati.</a:t>
            </a:r>
            <a:br>
              <a:rPr lang="it-IT" dirty="0"/>
            </a:br>
            <a:r>
              <a:rPr lang="it-IT" dirty="0"/>
              <a:t>Inoltre il tempo di esecuzione su grafi grandi risulta minore rispetto ai metodi più efficienti basati su random </a:t>
            </a:r>
            <a:r>
              <a:rPr lang="it-IT" dirty="0" err="1"/>
              <a:t>walk</a:t>
            </a:r>
            <a:r>
              <a:rPr lang="it-IT" dirty="0"/>
              <a:t> e </a:t>
            </a:r>
            <a:r>
              <a:rPr lang="it-IT" dirty="0" err="1"/>
              <a:t>graphlet</a:t>
            </a:r>
            <a:r>
              <a:rPr lang="it-IT" dirty="0"/>
              <a:t> kernels.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it-IT" dirty="0"/>
              <a:t> Un’interessante direzione futura sarà sviluppare kernel efficienti anche per grafi con etichette continue o ad alta dimensionalità.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901F5C3-92CD-5BB5-2A23-FB11CA37F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AC92C-0D1B-4114-80D6-172131723041}" type="slidenum">
              <a:rPr lang="it-IT" smtClean="0"/>
              <a:t>40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67163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tivo">
  <a:themeElements>
    <a:clrScheme name="Retrospettiv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trospettiv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68797</TotalTime>
  <Words>4309</Words>
  <Application>Microsoft Office PowerPoint</Application>
  <PresentationFormat>Widescreen</PresentationFormat>
  <Paragraphs>276</Paragraphs>
  <Slides>40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40</vt:i4>
      </vt:variant>
    </vt:vector>
  </HeadingPairs>
  <TitlesOfParts>
    <vt:vector size="47" baseType="lpstr">
      <vt:lpstr>Aptos</vt:lpstr>
      <vt:lpstr>Arial</vt:lpstr>
      <vt:lpstr>Calibri</vt:lpstr>
      <vt:lpstr>Calibri Light</vt:lpstr>
      <vt:lpstr>Cambria Math</vt:lpstr>
      <vt:lpstr>Wingdings</vt:lpstr>
      <vt:lpstr>Retrospettivo</vt:lpstr>
      <vt:lpstr>WEISFEILER-LEHMAN GRAPH KERNELS</vt:lpstr>
      <vt:lpstr>Indice</vt:lpstr>
      <vt:lpstr>Introduzione</vt:lpstr>
      <vt:lpstr>Introduzione</vt:lpstr>
      <vt:lpstr>Introduzione: misure di similarità</vt:lpstr>
      <vt:lpstr>Introduzione: misure di similarità (graph kernels)</vt:lpstr>
      <vt:lpstr>Introduzione: graph kernels </vt:lpstr>
      <vt:lpstr>Introduzione: graph kernels</vt:lpstr>
      <vt:lpstr>Weisfeiler-Lehman isomorphism test</vt:lpstr>
      <vt:lpstr>Algoritmo di Weisfeiler-Lehman per isomorfismo</vt:lpstr>
      <vt:lpstr>Analisi algoritmo</vt:lpstr>
      <vt:lpstr>Osservazioni sull’algoritmo</vt:lpstr>
      <vt:lpstr>Passi algoritmo</vt:lpstr>
      <vt:lpstr>General Weisfeiler-Lehman kernels</vt:lpstr>
      <vt:lpstr>Weisfeiler-Lehman kernel framework</vt:lpstr>
      <vt:lpstr>Weisfeiler-Lehman kernel framework</vt:lpstr>
      <vt:lpstr>Weisfeiler-Lehman kernel framework</vt:lpstr>
      <vt:lpstr>Weisfeiler-Lehman kernel framework</vt:lpstr>
      <vt:lpstr>Weisfeiler-Lehman subtree kernel</vt:lpstr>
      <vt:lpstr>Risultato W-L subtree kernel</vt:lpstr>
      <vt:lpstr>Weisfeiler-Lehman subtree kernel</vt:lpstr>
      <vt:lpstr>Weisfeiler-Lehman subtree kernel su N grafi</vt:lpstr>
      <vt:lpstr>Weisfeiler-Lehman subtree kernel su N grafi</vt:lpstr>
      <vt:lpstr>Weisfeiler-Lehman subtree kernel su N grafi</vt:lpstr>
      <vt:lpstr>Ramon-Gartner subtree kernel</vt:lpstr>
      <vt:lpstr>Relazione con W-L subtree kernel</vt:lpstr>
      <vt:lpstr>Relazione con W-L subtree kernel (cont’d)</vt:lpstr>
      <vt:lpstr>Weisfeiler-Lehman shortest-path kernel</vt:lpstr>
      <vt:lpstr>Weisfeiler-Lehman shortest-path kernel (complessità)</vt:lpstr>
      <vt:lpstr>Sperimentazioni</vt:lpstr>
      <vt:lpstr>Runtime of Weisfeiler-Lehman subtree kernel (setup)</vt:lpstr>
      <vt:lpstr>Runtime of Weisfeiler-Lehman subtree kernel (risultati)</vt:lpstr>
      <vt:lpstr>Graph classification (dataset)</vt:lpstr>
      <vt:lpstr>Graph classification (setup)</vt:lpstr>
      <vt:lpstr>Graph classification (setup)</vt:lpstr>
      <vt:lpstr>Graph classification (setup)</vt:lpstr>
      <vt:lpstr>Graph classification (risultati)</vt:lpstr>
      <vt:lpstr>Graph classification (sintesi risultati)</vt:lpstr>
      <vt:lpstr>Conclusioni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&amp; Lucky13</dc:title>
  <dc:creator>Cristiano Roman</dc:creator>
  <cp:lastModifiedBy>Cristiano Roman</cp:lastModifiedBy>
  <cp:revision>131</cp:revision>
  <dcterms:created xsi:type="dcterms:W3CDTF">2024-11-30T18:59:40Z</dcterms:created>
  <dcterms:modified xsi:type="dcterms:W3CDTF">2026-07-06T15:22:42Z</dcterms:modified>
</cp:coreProperties>
</file>