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62" r:id="rId4"/>
    <p:sldId id="263" r:id="rId5"/>
    <p:sldId id="264" r:id="rId6"/>
    <p:sldId id="268" r:id="rId7"/>
    <p:sldId id="266" r:id="rId8"/>
    <p:sldId id="269" r:id="rId9"/>
    <p:sldId id="258" r:id="rId10"/>
    <p:sldId id="270" r:id="rId11"/>
    <p:sldId id="271" r:id="rId12"/>
    <p:sldId id="279" r:id="rId13"/>
    <p:sldId id="272" r:id="rId14"/>
    <p:sldId id="259" r:id="rId15"/>
    <p:sldId id="273" r:id="rId16"/>
    <p:sldId id="274" r:id="rId17"/>
    <p:sldId id="277" r:id="rId18"/>
    <p:sldId id="281" r:id="rId19"/>
    <p:sldId id="280" r:id="rId20"/>
    <p:sldId id="278" r:id="rId21"/>
    <p:sldId id="282" r:id="rId22"/>
    <p:sldId id="284" r:id="rId23"/>
    <p:sldId id="285" r:id="rId24"/>
    <p:sldId id="286" r:id="rId25"/>
    <p:sldId id="287" r:id="rId26"/>
    <p:sldId id="288" r:id="rId27"/>
    <p:sldId id="260" r:id="rId28"/>
    <p:sldId id="289" r:id="rId29"/>
    <p:sldId id="290" r:id="rId30"/>
    <p:sldId id="291" r:id="rId31"/>
    <p:sldId id="292" r:id="rId32"/>
    <p:sldId id="294" r:id="rId33"/>
    <p:sldId id="296" r:id="rId34"/>
    <p:sldId id="261" r:id="rId35"/>
    <p:sldId id="29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576D85EB-1EA7-412B-8154-A78043FABA11}">
          <p14:sldIdLst>
            <p14:sldId id="256"/>
            <p14:sldId id="257"/>
            <p14:sldId id="262"/>
            <p14:sldId id="263"/>
            <p14:sldId id="264"/>
            <p14:sldId id="268"/>
            <p14:sldId id="266"/>
            <p14:sldId id="269"/>
            <p14:sldId id="258"/>
            <p14:sldId id="270"/>
            <p14:sldId id="271"/>
            <p14:sldId id="279"/>
            <p14:sldId id="272"/>
            <p14:sldId id="259"/>
            <p14:sldId id="273"/>
            <p14:sldId id="274"/>
            <p14:sldId id="277"/>
            <p14:sldId id="281"/>
            <p14:sldId id="280"/>
            <p14:sldId id="278"/>
            <p14:sldId id="282"/>
            <p14:sldId id="284"/>
            <p14:sldId id="285"/>
            <p14:sldId id="286"/>
            <p14:sldId id="287"/>
            <p14:sldId id="288"/>
            <p14:sldId id="260"/>
            <p14:sldId id="289"/>
            <p14:sldId id="290"/>
            <p14:sldId id="291"/>
            <p14:sldId id="292"/>
            <p14:sldId id="294"/>
            <p14:sldId id="296"/>
            <p14:sldId id="261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B98ACD6-E341-D7F4-287C-AE62456AD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031422E-CDE0-3153-67EB-898F3D8C91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8AD35-020F-4D7A-B598-A92EEE18E269}" type="datetimeFigureOut">
              <a:rPr lang="it-IT" smtClean="0"/>
              <a:t>08/07/2026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8BB4E5-C838-ABD2-3243-24C534786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289554-DA48-E37B-1AD1-96B5026B01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2594-1D76-4E1A-BA68-D29FD6B509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161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931C8-B0F1-490D-A132-2F25AC84C277}" type="datetimeFigureOut">
              <a:rPr lang="it-IT" smtClean="0"/>
              <a:t>08/07/2026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9181F-6A91-4505-9830-262DFE4865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90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9181F-6A91-4505-9830-262DFE48650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587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9181F-6A91-4505-9830-262DFE486503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215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0192-8E2A-43E0-8619-B564873A9BD7}" type="datetime1">
              <a:rPr lang="it-IT" smtClean="0"/>
              <a:t>08/07/2026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792BEC9A-5125-CEE5-4124-AF2C51462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55" y="106861"/>
            <a:ext cx="5480050" cy="5491760"/>
          </a:xfrm>
          <a:prstGeom prst="rect">
            <a:avLst/>
          </a:prstGeom>
        </p:spPr>
      </p:pic>
      <p:sp>
        <p:nvSpPr>
          <p:cNvPr id="11" name="Titolo 10">
            <a:extLst>
              <a:ext uri="{FF2B5EF4-FFF2-40B4-BE49-F238E27FC236}">
                <a16:creationId xmlns:a16="http://schemas.microsoft.com/office/drawing/2014/main" id="{A4392A53-8A62-5EE5-CDBD-E01DB5B6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1966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B4C4-E5DF-48EF-A92D-ED1921B9781A}" type="datetime1">
              <a:rPr lang="it-IT" smtClean="0"/>
              <a:t>08/07/2026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43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C5BD-31E0-4462-BED0-A73E332AFABD}" type="datetime1">
              <a:rPr lang="it-IT" smtClean="0"/>
              <a:t>08/07/2026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E7D07327-B59A-397F-C493-642DFFFE1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29" y="590559"/>
            <a:ext cx="5664777" cy="567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7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D34A2-FCA4-4B82-8FE1-E946B3DC2319}" type="datetime1">
              <a:rPr lang="it-IT" smtClean="0"/>
              <a:t>08/07/2026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53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66F7-9313-478C-85EC-9253025F0BD7}" type="datetime1">
              <a:rPr lang="it-IT" smtClean="0"/>
              <a:t>08/07/2026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317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9E58-7266-41C2-B78D-E1AD40F6A3E9}" type="datetime1">
              <a:rPr lang="it-IT" smtClean="0"/>
              <a:t>08/07/2026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179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22A0-2C1A-42F7-BB7B-FC3A5391E845}" type="datetime1">
              <a:rPr lang="it-IT" smtClean="0"/>
              <a:t>08/07/2026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87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2654B5-F90C-43E2-939F-8F3DAC4FBED6}" type="datetime1">
              <a:rPr lang="it-IT" smtClean="0"/>
              <a:t>08/07/2026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71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1B9A-F674-468B-8142-B0C22F9D7F64}" type="datetime1">
              <a:rPr lang="it-IT" smtClean="0"/>
              <a:t>08/07/2026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63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0CAE-4155-4AB6-AD7A-A99ADC7D6FE6}" type="datetime1">
              <a:rPr lang="it-IT" smtClean="0"/>
              <a:t>08/07/2026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26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FEF4-161F-4190-A129-16696E380469}" type="datetime1">
              <a:rPr lang="it-IT" smtClean="0"/>
              <a:t>08/07/2026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66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F64107-A47B-40B3-BBE5-8BFD07C3F286}" type="datetime1">
              <a:rPr lang="it-IT" smtClean="0"/>
              <a:t>08/07/2026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51F96908-F7E2-D0EB-8F84-94E9F86A0D6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532" y="-796"/>
            <a:ext cx="2339757" cy="9901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57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50901B-C209-8FBA-7618-A89F4453E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76789"/>
            <a:ext cx="8791575" cy="1974798"/>
          </a:xfrm>
        </p:spPr>
        <p:txBody>
          <a:bodyPr>
            <a:normAutofit/>
          </a:bodyPr>
          <a:lstStyle/>
          <a:p>
            <a:pPr algn="ctr"/>
            <a:r>
              <a:rPr lang="it-IT" sz="5400" b="1" dirty="0"/>
              <a:t>WEISFEILER-LEHMAN GRAPH KERNELS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91DC25-589F-76BA-4337-8DC771315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0762" y="3064582"/>
            <a:ext cx="7610474" cy="3333749"/>
          </a:xfrm>
        </p:spPr>
        <p:txBody>
          <a:bodyPr>
            <a:normAutofit fontScale="92500" lnSpcReduction="10000"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Roman Cristiano</a:t>
            </a:r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/>
              <a:t>Università degli studi di </a:t>
            </a:r>
            <a:r>
              <a:rPr lang="it-IT" dirty="0" err="1"/>
              <a:t>udine</a:t>
            </a: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 err="1"/>
              <a:t>Dmif</a:t>
            </a: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/>
              <a:t>Novembre 2025</a:t>
            </a:r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587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10697A-217E-C25E-7902-4F4E2691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8605B6-7927-BFD1-23A1-009A15504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it-IT" dirty="0"/>
              <a:t>1. Introduzione</a:t>
            </a:r>
          </a:p>
          <a:p>
            <a:pPr>
              <a:lnSpc>
                <a:spcPct val="200000"/>
              </a:lnSpc>
            </a:pPr>
            <a:r>
              <a:rPr lang="it-IT" dirty="0"/>
              <a:t>2. Weisfeiler-Lehman </a:t>
            </a:r>
            <a:r>
              <a:rPr lang="it-IT" dirty="0" err="1"/>
              <a:t>isomorphism</a:t>
            </a:r>
            <a:r>
              <a:rPr lang="it-IT" dirty="0"/>
              <a:t> test</a:t>
            </a:r>
          </a:p>
          <a:p>
            <a:pPr>
              <a:lnSpc>
                <a:spcPct val="200000"/>
              </a:lnSpc>
            </a:pPr>
            <a:r>
              <a:rPr lang="it-IT" dirty="0"/>
              <a:t>3. General Weisfeiler-Lehman kernels</a:t>
            </a:r>
          </a:p>
          <a:p>
            <a:pPr>
              <a:lnSpc>
                <a:spcPct val="200000"/>
              </a:lnSpc>
            </a:pPr>
            <a:r>
              <a:rPr lang="it-IT" dirty="0"/>
              <a:t>4. Sperimentazioni</a:t>
            </a:r>
          </a:p>
          <a:p>
            <a:pPr>
              <a:lnSpc>
                <a:spcPct val="200000"/>
              </a:lnSpc>
            </a:pPr>
            <a:r>
              <a:rPr lang="it-IT" dirty="0"/>
              <a:t>5. Conclusioni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6C3EE756-633A-C63C-6671-C4DE8AF1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501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8ECF4-4E8F-EF45-3522-1B44B431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Introduzione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700C6B-5092-F981-EC21-1487F5F05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9CA838-D73C-DBD4-9B60-CAE3FA97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422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noProof="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noProof="0" dirty="0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olo 4">
            <a:extLst>
              <a:ext uri="{FF2B5EF4-FFF2-40B4-BE49-F238E27FC236}">
                <a16:creationId xmlns:a16="http://schemas.microsoft.com/office/drawing/2014/main" id="{B0569412-D1E8-3A72-5022-135D2DB8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4000" noProof="0" dirty="0"/>
              <a:t>Introduzione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9FA9C06-2B11-1276-EB15-2BB5F8CB0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5246167" cy="4023360"/>
          </a:xfrm>
        </p:spPr>
        <p:txBody>
          <a:bodyPr vert="horz" lIns="0" tIns="45720" rIns="0" bIns="45720" rtlCol="0"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Dati strutturati sottoforma</a:t>
            </a:r>
            <a:r>
              <a:rPr lang="it-IT" dirty="0"/>
              <a:t> di</a:t>
            </a:r>
            <a:r>
              <a:rPr lang="it-IT" noProof="0" dirty="0"/>
              <a:t> grafi sempre più frequenti</a:t>
            </a:r>
          </a:p>
          <a:p>
            <a:pPr marL="201168" lvl="1" indent="0">
              <a:buNone/>
            </a:pPr>
            <a:endParaRPr lang="it-IT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Per comprendere questo tipo di dati si usano principalmente algoritmi di machine learning e reti neurali (GNN)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it-IT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Il problema di misurare la similarità è alla base dell’apprendimento su grafi.</a:t>
            </a:r>
          </a:p>
          <a:p>
            <a:pPr lvl="2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06B87B-A8D5-4BD1-781A-6BF693D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AC92C-0D1B-4114-80D6-172131723041}" type="slidenum">
              <a:rPr lang="it-IT" noProof="0" smtClean="0"/>
              <a:pPr defTabSz="914400">
                <a:spcAft>
                  <a:spcPts val="600"/>
                </a:spcAft>
              </a:pPr>
              <a:t>4</a:t>
            </a:fld>
            <a:endParaRPr lang="it-IT" noProof="0" dirty="0"/>
          </a:p>
        </p:txBody>
      </p:sp>
      <p:pic>
        <p:nvPicPr>
          <p:cNvPr id="10" name="Segnaposto contenuto 9" descr="Immagine che contiene testo, diagramma, schermata, cerchio">
            <a:extLst>
              <a:ext uri="{FF2B5EF4-FFF2-40B4-BE49-F238E27FC236}">
                <a16:creationId xmlns:a16="http://schemas.microsoft.com/office/drawing/2014/main" id="{BE8CE2C6-EB6F-A3D4-E181-7522A25BDD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447" y="2367238"/>
            <a:ext cx="4820618" cy="2900209"/>
          </a:xfrm>
        </p:spPr>
      </p:pic>
    </p:spTree>
    <p:extLst>
      <p:ext uri="{BB962C8B-B14F-4D97-AF65-F5344CB8AC3E}">
        <p14:creationId xmlns:p14="http://schemas.microsoft.com/office/powerpoint/2010/main" val="41576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06A1F-BA2C-1127-9A61-98F03266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misure di similarità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4A8C62-E37C-3B7D-976E-45D0BEF43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L’isomorfismo è la misura più naturale per controllare se due grafi sono identici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L’isomorfismo di un </a:t>
            </a:r>
            <a:r>
              <a:rPr lang="it-IT" dirty="0" err="1"/>
              <a:t>sottografo</a:t>
            </a:r>
            <a:r>
              <a:rPr lang="it-IT" dirty="0"/>
              <a:t> è stato dimostrato essere un problema NP-completo (</a:t>
            </a:r>
            <a:r>
              <a:rPr lang="it-IT" dirty="0" err="1"/>
              <a:t>Garey</a:t>
            </a:r>
            <a:r>
              <a:rPr lang="it-IT" dirty="0"/>
              <a:t> and Johnson, 1979)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Isomorfismo su grafi e le sue varianti sono troppo restrittive, i grafi richiedono identità topologica o ampie parti in comune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Altre misure di similarità basate su «</a:t>
            </a:r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distances</a:t>
            </a:r>
            <a:r>
              <a:rPr lang="it-IT" dirty="0"/>
              <a:t>» (Neuhaus and </a:t>
            </a:r>
            <a:r>
              <a:rPr lang="it-IT" dirty="0" err="1"/>
              <a:t>Bunke</a:t>
            </a:r>
            <a:r>
              <a:rPr lang="it-IT" dirty="0"/>
              <a:t>, 2005) ma sempre molto costose.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AC4D00-3987-9593-83E5-606A3B92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750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CAEBC-0C6F-F667-FBA2-0EFA3425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misure di similarità (</a:t>
            </a:r>
            <a:r>
              <a:rPr lang="it-IT" dirty="0" err="1"/>
              <a:t>graph</a:t>
            </a:r>
            <a:r>
              <a:rPr lang="it-IT" dirty="0"/>
              <a:t> kernels)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40840B-970F-D3A5-554E-0006D8D8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Sfruttano la topologia del grafo confrontando solo sotto strutture di grafi calcolabili in tempo polinomiale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 </a:t>
            </a:r>
            <a:r>
              <a:rPr lang="it-IT" i="1" dirty="0"/>
              <a:t>kernel</a:t>
            </a:r>
            <a:r>
              <a:rPr lang="it-IT" dirty="0"/>
              <a:t> è una funzione che dati due oggetti quantifica la loro similarità; matematicamente equivale a un prodotto scalare in uno spazio di Hilbert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kernel sono istanze della famiglia dei kernel R-convolutivi (Haussler, 1999)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Scompongono i grafi in sottostrutture elementari (nodi, archi, cammini, </a:t>
            </a:r>
            <a:r>
              <a:rPr lang="it-IT" dirty="0" err="1"/>
              <a:t>sottografi</a:t>
            </a:r>
            <a:r>
              <a:rPr lang="it-IT" dirty="0"/>
              <a:t>, etichette)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Definiscono la similarità globale come somma delle similarità locali fra tali sottostrutture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1874F9-1546-D3F9-9145-B8C656DC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14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F0B03A-E899-FD87-4260-47F2227C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</a:t>
            </a:r>
            <a:r>
              <a:rPr lang="it-IT" dirty="0" err="1"/>
              <a:t>graph</a:t>
            </a:r>
            <a:r>
              <a:rPr lang="it-IT" dirty="0"/>
              <a:t> kernels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D17A82-5710-398C-9C32-A5721B0C2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 cammino (</a:t>
            </a:r>
            <a:r>
              <a:rPr lang="it-IT" i="1" dirty="0" err="1"/>
              <a:t>walk</a:t>
            </a:r>
            <a:r>
              <a:rPr lang="it-IT" dirty="0"/>
              <a:t>) è una sequenza di nodi in un grafo, in cui nodi consecutivi sono connessi da un arco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Un percorso (</a:t>
            </a:r>
            <a:r>
              <a:rPr lang="it-IT" i="1" dirty="0" err="1"/>
              <a:t>path</a:t>
            </a:r>
            <a:r>
              <a:rPr lang="it-IT" dirty="0"/>
              <a:t>) è un cammino composto da nodi distinti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 subtree è un </a:t>
            </a:r>
            <a:r>
              <a:rPr lang="it-IT" dirty="0" err="1"/>
              <a:t>sottografo</a:t>
            </a:r>
            <a:r>
              <a:rPr lang="it-IT" dirty="0"/>
              <a:t> privo di cicli ma con root designata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L’altezza è la distanza da un nodo alla root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 subtree pattern (detto </a:t>
            </a:r>
            <a:r>
              <a:rPr lang="it-IT" dirty="0" err="1"/>
              <a:t>tree-walk</a:t>
            </a:r>
            <a:r>
              <a:rPr lang="it-IT" dirty="0"/>
              <a:t>) è un subtree che può avere nodi uguali, considerati distinti in modo che il pattern sia privo di cicli</a:t>
            </a:r>
          </a:p>
          <a:p>
            <a:pPr marL="0" indent="0">
              <a:buNone/>
            </a:pPr>
            <a:endParaRPr lang="it-IT" dirty="0"/>
          </a:p>
          <a:p>
            <a:pPr marL="201168" lvl="1" indent="0">
              <a:buNone/>
            </a:pP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5DF8CD-8119-EE90-8871-BF281C3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96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0E09F4-B9B1-B9BE-AAED-53EDD84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</a:t>
            </a:r>
            <a:r>
              <a:rPr lang="it-IT" dirty="0" err="1"/>
              <a:t>graph</a:t>
            </a:r>
            <a:r>
              <a:rPr lang="it-IT" dirty="0"/>
              <a:t>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1FFC11-25E6-A6FF-9A02-273F5335A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72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Tre classi di </a:t>
                </a:r>
                <a:r>
                  <a:rPr lang="it-IT" dirty="0" err="1"/>
                  <a:t>graph</a:t>
                </a:r>
                <a:r>
                  <a:rPr lang="it-IT" dirty="0"/>
                  <a:t> kernels: 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sui cammini o percorsi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 </a:t>
                </a:r>
                <a:r>
                  <a:rPr lang="it-IT" dirty="0" err="1"/>
                  <a:t>sottografi</a:t>
                </a:r>
                <a:r>
                  <a:rPr lang="it-IT" dirty="0"/>
                  <a:t> di dimensione limitata (</a:t>
                </a:r>
                <a:r>
                  <a:rPr lang="it-IT" dirty="0" err="1"/>
                  <a:t>graphlets</a:t>
                </a:r>
                <a:r>
                  <a:rPr lang="it-IT" dirty="0"/>
                  <a:t>)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 subtree patterns</a:t>
                </a:r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Calcolano il numero di coppie di cammini casuali uguali in due grafi. Complessità: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it-IT" dirty="0"/>
                  <a:t>). Con prodotto di </a:t>
                </a:r>
                <a:r>
                  <a:rPr lang="it-IT" dirty="0" err="1"/>
                  <a:t>Kronecker</a:t>
                </a:r>
                <a:r>
                  <a:rPr lang="it-IT" dirty="0"/>
                  <a:t>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Rappresentano tutti i </a:t>
                </a:r>
                <a:r>
                  <a:rPr lang="it-IT" dirty="0" err="1"/>
                  <a:t>sottografi</a:t>
                </a:r>
                <a:r>
                  <a:rPr lang="it-IT" dirty="0"/>
                  <a:t> possibili di dimensione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∈{3,4,5}</m:t>
                    </m:r>
                  </m:oMath>
                </a14:m>
                <a:endParaRPr lang="it-IT" dirty="0"/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Per ogni coppia di nodi </a:t>
                </a:r>
                <a:r>
                  <a:rPr lang="it-IT" dirty="0" err="1"/>
                  <a:t>vv</a:t>
                </a:r>
                <a:r>
                  <a:rPr lang="it-IT" dirty="0"/>
                  <a:t>’, conto quante sottostrutture coincidono fra i due.</a:t>
                </a:r>
                <a:br>
                  <a:rPr lang="it-IT" dirty="0"/>
                </a:br>
                <a:r>
                  <a:rPr lang="it-IT" dirty="0"/>
                  <a:t> La complessità su N grafi è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251460" indent="-342900">
                  <a:buFont typeface="Arial" panose="020B0604020202020204" pitchFamily="34" charset="0"/>
                  <a:buChar char="•"/>
                </a:pPr>
                <a:r>
                  <a:rPr lang="it-IT" dirty="0"/>
                  <a:t>Scalabilità ridotta su grafi con più di 100 nodi, nel caso peggiore nessun </a:t>
                </a:r>
                <a:r>
                  <a:rPr lang="it-IT" dirty="0" err="1"/>
                  <a:t>graph</a:t>
                </a:r>
                <a:r>
                  <a:rPr lang="it-IT" dirty="0"/>
                  <a:t> kernel ha complessità migliore di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1FFC11-25E6-A6FF-9A02-273F5335A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726"/>
              </a:xfrm>
              <a:blipFill>
                <a:blip r:embed="rId2"/>
                <a:stretch>
                  <a:fillRect l="-1576" t="-1667" b="-15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5A5C44-BAD1-FD08-D63C-12222975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781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BB0146-2892-DA34-2C8A-66586A3F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Weisfeiler-Lehman </a:t>
            </a:r>
            <a:r>
              <a:rPr lang="it-IT" dirty="0" err="1"/>
              <a:t>isomorphism</a:t>
            </a:r>
            <a:r>
              <a:rPr lang="it-IT" dirty="0"/>
              <a:t> test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F7964F-A7C1-9C3A-596B-D77BAB4AE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5008B7-BD30-7482-D6E1-B8CAA6C6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45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33088D-D14D-B9FF-84A7-1769327B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Weisfeiler-Lehman per isomorfismo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776E81-F780-F630-5112-B9B2531C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69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Test di Weisfeiler-Lehman per isomorfismo (Weisfeiler-Lehman, 1968), nella versione «</a:t>
            </a:r>
            <a:r>
              <a:rPr lang="it-IT" dirty="0" err="1"/>
              <a:t>naive</a:t>
            </a:r>
            <a:r>
              <a:rPr lang="it-IT" dirty="0"/>
              <a:t>»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 Idea</a:t>
            </a:r>
            <a:r>
              <a:rPr lang="it-IT" dirty="0"/>
              <a:t>: arricchire le etichette dei nodi con l’insieme ordinato delle etichette dei loro nodi adiacenti, e poi comprimere il risultato in nuove etichette più brevi.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Ripeto finché gli insiemi di etichette dei nodi di G e G’ non divergono oppure quando raggiungo l’iterazione n-esima.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63F2A5-7F1E-62AD-45E4-DF638EF9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63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ED4254-3645-A586-57C6-4B776445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Pseudo-codice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056110-AE1C-405D-2E12-E30A9C4EA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448116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Creazione </a:t>
            </a:r>
            <a:r>
              <a:rPr lang="it-IT" dirty="0" err="1"/>
              <a:t>multiset</a:t>
            </a:r>
            <a:r>
              <a:rPr lang="it-IT" dirty="0"/>
              <a:t> che contiene le etichette dei nodi vicini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Ordinamento di ogni </a:t>
            </a:r>
            <a:r>
              <a:rPr lang="it-IT" dirty="0" err="1"/>
              <a:t>multiset</a:t>
            </a:r>
            <a:endParaRPr lang="it-IT" dirty="0"/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Compressione etichette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Relabeling</a:t>
            </a:r>
            <a:r>
              <a:rPr lang="it-IT" dirty="0"/>
              <a:t>: aggiornamento etichette</a:t>
            </a:r>
          </a:p>
        </p:txBody>
      </p:sp>
      <p:pic>
        <p:nvPicPr>
          <p:cNvPr id="7" name="Segnaposto contenuto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3C746FF-5DC0-4697-C872-CEDBC5A77E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394" y="2252776"/>
            <a:ext cx="5609969" cy="2881514"/>
          </a:xfr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29289C-1DFC-389C-E954-B149580C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30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07058712-12D6-B147-E476-8C373711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Esecuzione algoritmo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DA28AE6-9F0B-3F25-7DDE-8E2DDA3FB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792" y="1981371"/>
            <a:ext cx="7498079" cy="4017875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67DC80-1203-05C9-2C7A-C2438CCE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64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08D612-FF02-2879-688A-50489171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Osservazioni sull’algoritmo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F59E57-4BA1-07A4-78B9-8844DC8B2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L’ordinamento dei </a:t>
                </a:r>
                <a:r>
                  <a:rPr lang="it-IT" dirty="0" err="1"/>
                  <a:t>multiset</a:t>
                </a:r>
                <a:r>
                  <a:rPr lang="it-IT" dirty="0"/>
                  <a:t> garantisce che tutte le stringhe uguali vengano mappate nello stesso numero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Ordinamento non necessario per definire f. L’alfabeto deve essere abbastanza grande affinché sia iniettiva.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1" dirty="0"/>
                  <a:t> Complessità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hm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Creazione dei </a:t>
                </a:r>
                <a:r>
                  <a:rPr lang="it-IT" dirty="0" err="1"/>
                  <a:t>multiset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Ordinamento di ogni </a:t>
                </a:r>
                <a:r>
                  <a:rPr lang="it-IT" dirty="0" err="1"/>
                  <a:t>multiset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Ordinamento delle stringhe risultanti: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La compressione richiede una scansione sui caratteri delle stringhe quindi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F59E57-4BA1-07A4-78B9-8844DC8B2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16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C2841-FDF7-3AD9-C9A6-7483683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1223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0EFB68-7D07-E10F-04C9-4F149F49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it-IT" dirty="0"/>
              <a:t>General Weisfeiler-Lehman kernels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081F03-FD64-7A77-D373-1BCE5B46F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CDFBF7-7C2D-5033-1412-00CED4A5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615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C8ED0-E2E1-1BAD-8273-46D32F99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EF9096-27D6-C2DF-DFE4-2D6243E49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it-IT" dirty="0"/>
                  <a:t> Definizione </a:t>
                </a:r>
                <a:r>
                  <a:rPr lang="it-IT" b="1" dirty="0"/>
                  <a:t>sequenza di grafi Weisfeiler-Lehman</a:t>
                </a:r>
                <a:r>
                  <a:rPr lang="it-IT" dirty="0"/>
                  <a:t>: la sequenza di grafi di W-L con altezza h è: 			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it-IT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Definizione </a:t>
                </a:r>
                <a:r>
                  <a:rPr lang="it-IT" b="1" dirty="0"/>
                  <a:t>Weisfeiler–Lehman kernel: </a:t>
                </a:r>
                <a:r>
                  <a:rPr lang="it-IT" dirty="0"/>
                  <a:t>il kernel di W-L è definito come: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𝑊𝐿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err="1"/>
                  <a:t>Definiamo</a:t>
                </a:r>
                <a:r>
                  <a:rPr lang="en-US" dirty="0"/>
                  <a:t> un kernel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come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tale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che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, ∀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EF9096-27D6-C2DF-DFE4-2D6243E49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53695F-9699-A762-5180-ABD64D7E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34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815BAB-5A15-4EB0-C981-B99122AB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AD9FC23-F723-6701-9FB2-F05A133B1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Un kernel è positivo semi-definito quando, per qualsiasi insieme finito di oggetti, la matrice kernel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dirty="0"/>
                  <a:t> è tale che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𝐾𝑐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it-IT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 di Mercer</a:t>
                </a:r>
                <a:r>
                  <a:rPr lang="it-IT" dirty="0"/>
                  <a:t>: se una funzione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è positiva semi-definita, allora può essere rappresentata come un prodotto scalare in uno spazio di Hilbert.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Teorema</a:t>
                </a:r>
                <a:r>
                  <a:rPr lang="it-IT" dirty="0"/>
                  <a:t>:  Sia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un kernel positivo semi-definito definito su grafi. Allora il kernel di Weisfeiler–Lehman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corrispondente è anch’esso positivo semi-definito.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Kernel di W-L permette di applicare qualsiasi kernel positivo semi-definito non solo al grafo originale ma anche a tutte le sue versioni successive con nuove etichette.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AD9FC23-F723-6701-9FB2-F05A133B1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B8AB11-DA09-072D-C01B-DFDE03C9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4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06798B-29F5-75AA-DE2C-3B38CC02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EF8828-6153-5458-9CF8-F2004BF02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Definiamo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Σ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come l’insieme di etichette distinte che compaiono almeno una volta nei due grafi dopo l’iterazione i-esima.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Per ogni 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sono disgiunti e ogni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è ordinato.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Definiamo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numero occorrenze dell’etichetta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dirty="0"/>
                  <a:t> nel grafo G.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1" dirty="0"/>
                  <a:t> </a:t>
                </a:r>
                <a:r>
                  <a:rPr lang="it-IT" dirty="0"/>
                  <a:t>Definizione</a:t>
                </a:r>
                <a:r>
                  <a:rPr lang="it-IT" b="1" dirty="0"/>
                  <a:t> Weisfeiler-Lehman subtree kernel </a:t>
                </a:r>
                <a:r>
                  <a:rPr lang="it-IT" dirty="0"/>
                  <a:t>su G e G’ con h iterazioni: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 i="1"/>
                            <m:t>WL</m:t>
                          </m:r>
                          <m:r>
                            <m:rPr>
                              <m:nor/>
                            </m:rPr>
                            <a:rPr lang="it-IT" i="1"/>
                            <m:t> </m:t>
                          </m:r>
                          <m:r>
                            <m:rPr>
                              <m:nor/>
                            </m:rPr>
                            <a:rPr lang="it-IT" i="1"/>
                            <m:t>subtree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it-IT" i="1"/>
                                <m:t>WL</m:t>
                              </m:r>
                              <m:r>
                                <m:rPr>
                                  <m:nor/>
                                </m:rPr>
                                <a:rPr lang="it-IT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it-IT" i="1"/>
                                <m:t>subtree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bSup>
                        </m: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1"/>
                            <m:t>  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it-IT" i="1"/>
                                <m:t>WL</m:t>
                              </m:r>
                              <m:r>
                                <m:rPr>
                                  <m:nor/>
                                </m:rPr>
                                <a:rPr lang="it-IT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it-IT" i="1"/>
                                <m:t>subtree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EF8828-6153-5458-9CF8-F2004BF02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1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4FB311-D6A6-F2D0-31CA-3C627AC0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8823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3C58B-DEE0-BEFD-A4D4-CCE4C1A2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Risultato W-L subtree kernel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C8C0362-16DC-C596-AD29-D9C127C424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 grafi di partenza hanno cinque etichette distinte mentre quelli successivi otto.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Il W-L kernel calcola il prodotto scalare fra i vettori delle feature.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8" name="Segnaposto contenuto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11AB8CC-F9FE-D0B7-3D38-8D151FBE69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4" y="2108538"/>
            <a:ext cx="4998716" cy="3491372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AA7186-52A3-BFB2-21C5-A49D91B5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26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98C1E8-2558-D78A-32E5-D8CB8A56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4601768-49C9-CF0E-B19B-263197CC0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Teorema: </a:t>
                </a:r>
                <a:r>
                  <a:rPr lang="it-IT" dirty="0"/>
                  <a:t>il W-L subtree kernel su un coppie di grafi può essere calcolato in tempo O(hm)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Dimostrazione: segue della definizione di W-L subtree kernel e dalla complessità del test  W-L per l’isomorfismo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Teorema: </a:t>
                </a:r>
                <a:r>
                  <a:rPr lang="it-IT" dirty="0"/>
                  <a:t>sia il kernel base k una funzione che conta il numero di etichette uguali in due grafi: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9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∈ </m:t>
                          </m:r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∈  </m:t>
                              </m:r>
                              <m:r>
                                <m:rPr>
                                  <m:sty m:val="p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it-IT" dirty="0"/>
              </a:p>
              <a:p>
                <a:pPr marL="566928" lvl="3" indent="0">
                  <a:buNone/>
                </a:pPr>
                <a:endParaRPr lang="it-IT" dirty="0"/>
              </a:p>
              <a:p>
                <a:pPr lvl="1" algn="ctr">
                  <a:buFont typeface="Wingdings" panose="05000000000000000000" pitchFamily="2" charset="2"/>
                  <a:buChar char="Ø"/>
                </a:pPr>
                <a:r>
                  <a:rPr lang="it-IT" dirty="0"/>
                  <a:t> Allora si ottiene lo stesso risultato del W-L subtree kernel (costituito dal prodotto scalare dei vettori feature)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𝑊𝐿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𝑊𝐿𝑠𝑢𝑏𝑡𝑟𝑒𝑒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4601768-49C9-CF0E-B19B-263197CC0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B74523-40DB-49F9-D347-17DC110A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999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B4ED4C-0920-1F4A-AB20-1E466DFB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 su N grafi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0BE1A07-9AF0-1ABB-1120-19966A3C126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4"/>
                <a:ext cx="4575232" cy="394546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Versione raffinata dell’algoritmo </a:t>
                </a:r>
                <a:r>
                  <a:rPr lang="it-IT" dirty="0" err="1"/>
                  <a:t>naive</a:t>
                </a:r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Calcola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per ogni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e ricava il vettore delle feature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d>
                          <m:d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Calcolare la matrice kernel diventa un prodotto scalare fra vettori di feature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Alfabeto: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it-IT" dirty="0"/>
                  <a:t> simboli diversi</a:t>
                </a:r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0BE1A07-9AF0-1ABB-1120-19966A3C1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4"/>
                <a:ext cx="4575232" cy="3945466"/>
              </a:xfrm>
              <a:blipFill>
                <a:blip r:embed="rId2"/>
                <a:stretch>
                  <a:fillRect l="-3196" t="-1700" r="-26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CCDE9BD-65F9-C5EE-63FC-E61D0AD61D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10" y="2823273"/>
            <a:ext cx="5482853" cy="2297367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B8F63D-F246-0344-85E0-DE34E55F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623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18AAB9-649A-2DBE-3C86-E18A01BE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 su N grafi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EF7AD3-7FFE-6D62-2B17-75C5FFF16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Funzione f trasforma le stringhe in nuove etichette compresse in due modi: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Ordinamento lessicografico: si implementa f in modo che ordini le stringhe (algoritmo </a:t>
                </a:r>
                <a:r>
                  <a:rPr lang="it-IT" dirty="0" err="1"/>
                  <a:t>naive</a:t>
                </a:r>
                <a:r>
                  <a:rPr lang="it-IT" dirty="0"/>
                  <a:t>)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Perfect </a:t>
                </a:r>
                <a:r>
                  <a:rPr lang="it-IT" dirty="0" err="1"/>
                  <a:t>hash</a:t>
                </a:r>
                <a:r>
                  <a:rPr lang="it-IT" dirty="0"/>
                  <a:t> </a:t>
                </a:r>
                <a:r>
                  <a:rPr lang="it-IT" dirty="0" err="1"/>
                  <a:t>function</a:t>
                </a:r>
                <a:r>
                  <a:rPr lang="it-IT" dirty="0"/>
                  <a:t>: nessuna collisione, funzione iniettiva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1" dirty="0"/>
                  <a:t> Complessità: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Teorema:  </a:t>
                </a:r>
                <a:r>
                  <a:rPr lang="it-IT" dirty="0"/>
                  <a:t>per N grafi, W-L subtree kernel con h iterazioni su tutte le coppie di grafi ha complessità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Nhm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+ 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hn</m:t>
                        </m:r>
                      </m:e>
                    </m:d>
                  </m:oMath>
                </a14:m>
                <a:endParaRPr lang="it-IT" i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Dimostrazione: </a:t>
                </a:r>
                <a:r>
                  <a:rPr lang="it-IT" dirty="0"/>
                  <a:t>si migliora algoritmo </a:t>
                </a:r>
                <a:r>
                  <a:rPr lang="it-IT" dirty="0" err="1"/>
                  <a:t>naive</a:t>
                </a:r>
                <a:r>
                  <a:rPr lang="it-IT" dirty="0"/>
                  <a:t> per ottenere la matrice kernel calcolando i vettori delle feature per ogni grafo e alla fine si esegue il prodotto scalare.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EF7AD3-7FFE-6D62-2B17-75C5FFF16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EC2384-1B94-AF34-DE49-207A1E77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36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9815E6-2890-8F6F-9C9C-47137932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Ramon-Gartner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AE6F889-0820-7BE8-5B1E-5383533E9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5694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Consideriamo tutte le coppie di nodi di G e G’, per ogni coppia confronta i subtree di altezza h che partono da quei nodi, il kernel equivale a: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RG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𝑅𝐺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’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it-IT" dirty="0"/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Con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b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rappresenta tutti i possibili matching tra i vicini di due nodi nodi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ar-AE" b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it-IT" dirty="0"/>
                  <a:t>. Ogni elemento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b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è un insieme di coppie di nodi con etichette uguali, dove ogni nodo può comparire in una sola coppia.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Complessità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per N grafi richiede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e>
                    </m:d>
                  </m:oMath>
                </a14:m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AE6F889-0820-7BE8-5B1E-5383533E9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56946"/>
              </a:xfrm>
              <a:blipFill>
                <a:blip r:embed="rId2"/>
                <a:stretch>
                  <a:fillRect l="-1455" t="-43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079B7-A34F-15AD-4924-2037F080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22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EED6803-0C31-719E-3E9E-AC9D5F191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168"/>
          <a:stretch>
            <a:fillRect/>
          </a:stretch>
        </p:blipFill>
        <p:spPr>
          <a:xfrm>
            <a:off x="1854780" y="2544503"/>
            <a:ext cx="5334462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33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FF04C8-12D6-8140-F72A-BEBA9C65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 con W-L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4FCBF4-B8A3-7B66-9469-501B48076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58422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Può essere definito ricorsivamente così come viene fatto per il kernel di Ramon-Gartner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</a:t>
                </a:r>
                <a:r>
                  <a:rPr lang="it-IT" dirty="0"/>
                  <a:t>: Il kernel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definito come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, </m:t>
                        </m:r>
                        <m:sSup>
                          <m:sSup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</a:rPr>
                      <m:t> = </m:t>
                    </m:r>
                    <m:nary>
                      <m:naryPr>
                        <m:chr m:val="∑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 ∈ 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 ∈ </m:t>
                                </m:r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it-IT">
                                        <a:latin typeface="Cambria Math" panose="02040503050406030204" pitchFamily="18" charset="0"/>
                                      </a:rPr>
                                      <m:t>rec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nary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m:rPr>
                                <m:nor/>
                              </m:rPr>
                              <a:rPr lang="ar-AE" dirty="0"/>
                              <m:t> </m:t>
                            </m:r>
                          </m:e>
                        </m:nary>
                        <m:r>
                          <a:rPr lang="it-IT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nary>
                    <m:r>
                      <a:rPr lang="it-IT" i="1" smtClean="0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con </a:t>
                </a:r>
              </a:p>
              <a:p>
                <a:pPr marL="201168" lvl="1" indent="0">
                  <a:buNone/>
                </a:pPr>
                <a:endParaRPr lang="it-IT" dirty="0"/>
              </a:p>
              <a:p>
                <a:pPr algn="ctr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it-IT" dirty="0"/>
                  <a:t> è equivalente a Weisfeiler-Lehman subtree kernel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endParaRPr lang="it-IT" dirty="0"/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è non vuoto solo nel caso in cui i nodi hanno lo stesso numero di vicini e i </a:t>
                </a:r>
                <a:r>
                  <a:rPr lang="it-IT" dirty="0" err="1"/>
                  <a:t>multiset</a:t>
                </a:r>
                <a:r>
                  <a:rPr lang="it-IT" dirty="0"/>
                  <a:t> coincidono.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4FCBF4-B8A3-7B66-9469-501B48076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58422"/>
              </a:xfrm>
              <a:blipFill>
                <a:blip r:embed="rId2"/>
                <a:stretch>
                  <a:fillRect l="-1455" t="-15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B5BC3D-EEAD-581B-0DCF-E54D4565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23</a:t>
            </a:fld>
            <a:endParaRPr lang="it-IT"/>
          </a:p>
        </p:txBody>
      </p:sp>
      <p:pic>
        <p:nvPicPr>
          <p:cNvPr id="8" name="Immagine 7" descr="Immagine che contiene testo, Carattere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FA731C07-8B3E-886D-DFC8-382EF70AF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37" y="2786109"/>
            <a:ext cx="5372361" cy="81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90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57A13-D1C0-3250-5CA9-EBA5EE87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 con W-L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AB65B-8DBC-F08C-6185-F78FE3DFC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463627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Dimostrazione: </a:t>
                </a:r>
                <a:r>
                  <a:rPr lang="it-IT" dirty="0"/>
                  <a:t>per induzione su h. Per h=0 facile da vedere. Passo induttivo h=h+1: assumendo che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𝑊𝐿𝑠𝑢𝑏𝑡𝑟𝑒𝑒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 segue che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dirty="0"/>
                  <a:t> se e solo se etichette e vicini dei nodi v e v’ sono identici.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W-L kernel considera tutti i subtree con altezza al massimo h, mentre Ramon-Gartner calcola i subtree di altezza esattamente h. 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controllano che i vicinati di v e v’ corrispondono, mentre Ramon-Gartner considera tutti i possibili sottoinsiemi corrispondenti fra i vicinati dei due nodi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W-L rinuncia alla flessibilità in cambio di complessità molto minore rispetto a Ramon-Gartner</a:t>
                </a:r>
              </a:p>
              <a:p>
                <a:pPr marL="201168" lvl="1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AB65B-8DBC-F08C-6185-F78FE3DFC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463627"/>
              </a:xfrm>
              <a:blipFill>
                <a:blip r:embed="rId2"/>
                <a:stretch>
                  <a:fillRect l="-1455" t="-1503" r="-10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86D43F-D927-4F4C-59F7-E6415272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2996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A02335-21CC-C8AA-BE6F-26BE08BB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shortest-path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BD6892-9BD3-CB20-4C69-C5E05C555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Istanza della famiglia di Weisfeiler-Lehman subtree kernel.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Per grafi non pesati, consideriamo un </a:t>
                </a:r>
                <a:r>
                  <a:rPr lang="it-IT" i="1" dirty="0"/>
                  <a:t>kernel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</m:oMath>
                </a14:m>
                <a:r>
                  <a:rPr lang="it-IT" dirty="0"/>
                  <a:t> definito 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𝑆𝑃</m:t>
                            </m:r>
                          </m:sub>
                        </m:sSub>
                      </m: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𝑆𝑃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it-IT" dirty="0"/>
                  <a:t> dove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it-IT" dirty="0"/>
                  <a:t>è un vettore le cui componenti rappresentano il numero di occorrenze di triplette (a, b, p) nel grafo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it-IT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Data la definizione di sequenza di Weisfeiler-Lehman:			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WL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shortest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path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it-IT" dirty="0"/>
                  <a:t> </a:t>
                </a: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BD6892-9BD3-CB20-4C69-C5E05C555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3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3507FB-6ADC-0620-F7A8-C04F6E42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320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289161-0067-7EF4-7A82-0BA06C43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Weisfeiler-Lehman shortest-path kernel (complessità)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13A8F36-6484-7F72-59B4-E0F443729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3469217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Algoritmo Floyd-</a:t>
                </a:r>
                <a:r>
                  <a:rPr lang="it-IT" dirty="0" err="1"/>
                  <a:t>Warshall</a:t>
                </a:r>
                <a:r>
                  <a:rPr lang="it-IT" dirty="0"/>
                  <a:t> costa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, con N grafi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. La topologia non cambia quindi si esegue solo una volta.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Nel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relabeling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il numero di triplette (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a,b,p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è limitato da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>
                            <a:latin typeface="Cambria Math" panose="02040503050406030204" pitchFamily="18" charset="0"/>
                          </a:rPr>
                          <m:t>∣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∣+</m:t>
                            </m:r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Si noti che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mtClean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it-IT" dirty="0"/>
                  <a:t>. Quindi il vettore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it-IT" dirty="0"/>
                  <a:t> diventa sempre più grande e il calcolo del prodotto scalare sempre più costoso.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In generale calcolare la feature </a:t>
                </a:r>
                <a:r>
                  <a:rPr lang="it-IT" dirty="0" err="1"/>
                  <a:t>map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it-IT" dirty="0"/>
                  <a:t> diventa troppo costoso, su N grafi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13A8F36-6484-7F72-59B4-E0F443729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3469217"/>
              </a:xfrm>
              <a:blipFill>
                <a:blip r:embed="rId2"/>
                <a:stretch>
                  <a:fillRect l="-1455" t="-19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A52459-8732-3950-E695-C78F87D5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509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889780-9E8E-F197-1242-46459053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Sperimentazioni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3E8656C-ED66-AE25-2918-3437A8131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DF8B4B-99EF-C42C-9132-507AC2F8B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999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1110DE-0E6D-A799-CAD1-35ACAD3C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Runtime of Weisfeiler-Lehman subtree kernel (setup)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87652A-A237-7A4C-3C2F-DCBB7E655C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Confronto fra due versioni del W-L subtree kernel: «</a:t>
                </a:r>
                <a:r>
                  <a:rPr lang="it-IT" dirty="0" err="1"/>
                  <a:t>pairwise</a:t>
                </a:r>
                <a:r>
                  <a:rPr lang="it-IT" dirty="0"/>
                  <a:t>» su coppie di grafi, «global» in parallelo su tutto il dataset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N</a:t>
                </a:r>
                <a:r>
                  <a:rPr lang="it-IT" dirty="0"/>
                  <a:t> grafi random ciascuno con </a:t>
                </a:r>
                <a:r>
                  <a:rPr lang="it-IT" i="1" dirty="0"/>
                  <a:t>n</a:t>
                </a:r>
                <a:r>
                  <a:rPr lang="it-IT" dirty="0"/>
                  <a:t> nodi, subtree </a:t>
                </a:r>
                <a:r>
                  <a:rPr lang="it-IT" dirty="0" err="1"/>
                  <a:t>height</a:t>
                </a:r>
                <a:r>
                  <a:rPr lang="it-IT" dirty="0"/>
                  <a:t> </a:t>
                </a:r>
                <a:r>
                  <a:rPr lang="it-IT" i="1" dirty="0"/>
                  <a:t>h</a:t>
                </a:r>
                <a:r>
                  <a:rPr lang="it-IT" dirty="0"/>
                  <a:t>, </a:t>
                </a:r>
                <a:r>
                  <a:rPr lang="it-IT" dirty="0" err="1"/>
                  <a:t>graph</a:t>
                </a:r>
                <a:r>
                  <a:rPr lang="it-IT" dirty="0"/>
                  <a:t> </a:t>
                </a:r>
                <a:r>
                  <a:rPr lang="it-IT" dirty="0" err="1"/>
                  <a:t>density</a:t>
                </a:r>
                <a:r>
                  <a:rPr lang="it-IT" dirty="0"/>
                  <a:t> </a:t>
                </a:r>
                <a:r>
                  <a:rPr lang="it-IT" i="1" dirty="0"/>
                  <a:t>c </a:t>
                </a:r>
                <a:r>
                  <a:rPr lang="it-IT" dirty="0"/>
                  <a:t>(per un grafo indiretto definita come numero archi diviso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Valori di default: N=10, n=100, h=4, c=0.4.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Ogni grafo contiene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⌊</m:t>
                    </m:r>
                    <m:r>
                      <a:rPr lang="it-IT" i="1" dirty="0" err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it-IT" dirty="0"/>
                  <a:t>archi random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87652A-A237-7A4C-3C2F-DCBB7E655C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38A07C-10F0-9207-D850-A208BCF2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783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F09D01-C701-A9C7-6303-63201502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Runtime of Weisfeiler-Lehman subtree kernel (risultati)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2C4DCB-104F-F639-547D-96502B0CEF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3"/>
                <a:ext cx="4937760" cy="4314435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Il kernel «</a:t>
                </a:r>
                <a:r>
                  <a:rPr lang="it-IT" dirty="0" err="1"/>
                  <a:t>pairwise</a:t>
                </a:r>
                <a:r>
                  <a:rPr lang="it-IT" dirty="0"/>
                  <a:t>» cresce 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mentre quello «global» scala linearmente su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Aumentando n, entrambi scalano </a:t>
                </a:r>
                <a:r>
                  <a:rPr lang="it-IT" dirty="0" err="1"/>
                  <a:t>quadraticamente</a:t>
                </a:r>
                <a:r>
                  <a:rPr lang="it-IT" dirty="0"/>
                  <a:t>, ma il global è molto più veloce grazie alla dipendenza da m.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In funzione di h, crescita lineare per entrambi ma il global resta più leggero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Si osserva lo stesso comportamento variando la densità c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2C4DCB-104F-F639-547D-96502B0CE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3"/>
                <a:ext cx="4937760" cy="4314435"/>
              </a:xfrm>
              <a:blipFill>
                <a:blip r:embed="rId2"/>
                <a:stretch>
                  <a:fillRect l="-2963" t="-1554" r="-20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Segnaposto contenuto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AD6B642-2EEF-AAFF-490F-9822B43A2D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173866"/>
            <a:ext cx="4937125" cy="3367519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26A99E-2184-88A5-F9D5-3C17C5B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360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2685F2-96AE-F840-61F9-E207499F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(dataset)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93FA2D-95F7-47EF-5C98-D26A1653C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9089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Confronto delle performance fra W-L subtree/</a:t>
            </a:r>
            <a:r>
              <a:rPr lang="it-IT" dirty="0" err="1"/>
              <a:t>shortest-path</a:t>
            </a:r>
            <a:r>
              <a:rPr lang="it-IT" dirty="0"/>
              <a:t> kernels e altri </a:t>
            </a:r>
            <a:r>
              <a:rPr lang="it-IT" dirty="0" err="1"/>
              <a:t>graph</a:t>
            </a:r>
            <a:r>
              <a:rPr lang="it-IT" dirty="0"/>
              <a:t> kernel stato dell’arte.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Dataset utilizzati: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sz="2000" dirty="0"/>
              <a:t>MUTAG: 188 composti chimici; classificazione mutageno / non mutageno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/>
              <a:t> NCI1, NCI109: composti chimici; classificazione attività anticancro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/>
              <a:t> ENZYMES — 600 proteine; assegnazione a 6 classi EC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/>
              <a:t> D&amp;D — 1178 strutture proteiche; classificazione enzimi / non enzimi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6F2461-F4E1-D81D-74D9-E96E6EF4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835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A8D4A3-39D7-FB26-0D28-EB4D6C96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(setup)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6C70B8-AEAC-9AC4-0C92-CF741C7A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84069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Confronto fra W-L subtree kernel, W-L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kernel, Ramon-Gartner kernel e altri kernel stato dell’arte per grafi di grandi dimensioni.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Kernel </a:t>
            </a:r>
            <a:r>
              <a:rPr lang="it-IT" dirty="0" err="1"/>
              <a:t>walk-based</a:t>
            </a:r>
            <a:r>
              <a:rPr lang="it-IT" dirty="0"/>
              <a:t> confrontati: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Fast </a:t>
            </a:r>
            <a:r>
              <a:rPr lang="it-IT" dirty="0" err="1"/>
              <a:t>Geometric</a:t>
            </a:r>
            <a:r>
              <a:rPr lang="it-IT" dirty="0"/>
              <a:t> Random </a:t>
            </a:r>
            <a:r>
              <a:rPr lang="it-IT" dirty="0" err="1"/>
              <a:t>Walk</a:t>
            </a:r>
            <a:r>
              <a:rPr lang="it-IT" dirty="0"/>
              <a:t> (</a:t>
            </a:r>
            <a:r>
              <a:rPr lang="it-IT" dirty="0" err="1"/>
              <a:t>Vishwanathan</a:t>
            </a:r>
            <a:r>
              <a:rPr lang="it-IT" dirty="0"/>
              <a:t> et al., 2010)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/>
              <a:t>p-Random Walk (Kashima et al., 2003; Gärtner et al., 2003)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Kernel basati su </a:t>
            </a:r>
            <a:r>
              <a:rPr lang="it-IT" dirty="0" err="1"/>
              <a:t>sottografi</a:t>
            </a:r>
            <a:r>
              <a:rPr lang="it-IT" dirty="0"/>
              <a:t> di piccole dimensioni: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/>
              <a:t>Extended Graphlet Kernel (Shervashidze et al., 2009)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Kernel </a:t>
            </a:r>
            <a:r>
              <a:rPr lang="it-IT" dirty="0" err="1"/>
              <a:t>path-based</a:t>
            </a:r>
            <a:r>
              <a:rPr lang="it-IT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(</a:t>
            </a:r>
            <a:r>
              <a:rPr lang="it-IT" dirty="0" err="1"/>
              <a:t>Borgwardt</a:t>
            </a:r>
            <a:r>
              <a:rPr lang="it-IT" dirty="0"/>
              <a:t> &amp; </a:t>
            </a:r>
            <a:r>
              <a:rPr lang="it-IT" dirty="0" err="1"/>
              <a:t>Kriegel</a:t>
            </a:r>
            <a:r>
              <a:rPr lang="it-IT" dirty="0"/>
              <a:t>, 2005)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DDB247-A8EB-4DDD-ED21-DADDADA4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63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FA705-B43A-BD81-916B-17F05E15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(risultati)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4B2005-4542-4765-6E8C-73D3B4E40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3"/>
            <a:ext cx="4684153" cy="44168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W-L subtree kernel mostra la migliore scalabilità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e W-L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raggiungono prestazioni simili al W-L subtree sui dataset più piccoli;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Ramon–</a:t>
            </a:r>
            <a:r>
              <a:rPr lang="it-IT" dirty="0" err="1"/>
              <a:t>Gärtner</a:t>
            </a:r>
            <a:r>
              <a:rPr lang="it-IT" dirty="0"/>
              <a:t> kernel è utilizzabile solo su dataset molto piccoli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 random </a:t>
            </a:r>
            <a:r>
              <a:rPr lang="it-IT" dirty="0" err="1"/>
              <a:t>walk</a:t>
            </a:r>
            <a:r>
              <a:rPr lang="it-IT" dirty="0"/>
              <a:t> kernel sono competitivi solo su MUTAG ed ENZYMES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Il </a:t>
            </a:r>
            <a:r>
              <a:rPr lang="it-IT" dirty="0" err="1"/>
              <a:t>graphlet</a:t>
            </a:r>
            <a:r>
              <a:rPr lang="it-IT" dirty="0"/>
              <a:t> kernel è veloce su MUTAG e NCI ma è più lento su D&amp;D e mostra scarsa accuratezza in quattro dataset su cinque.</a:t>
            </a:r>
          </a:p>
        </p:txBody>
      </p:sp>
      <p:pic>
        <p:nvPicPr>
          <p:cNvPr id="7" name="Segnaposto contenuto 6" descr="Immagine che contiene testo, numero, schermata, Carattere">
            <a:extLst>
              <a:ext uri="{FF2B5EF4-FFF2-40B4-BE49-F238E27FC236}">
                <a16:creationId xmlns:a16="http://schemas.microsoft.com/office/drawing/2014/main" id="{F7308F7B-1A56-72B1-DC42-4D502DBA3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431" y="1846263"/>
            <a:ext cx="5334678" cy="4416885"/>
          </a:xfr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1584EFD-98FB-AA69-4312-7B704954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380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28692-CE3E-B021-A4AA-3BD9E7B6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(sintesi risultati)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0D94F0-8729-3B2E-E579-9B713D2C9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Weisfeiler-Lehman subtree kernel: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Efficiente e scalabile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Più veloce di quasi tutti gli altri kernel su grandi dataset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Accurato e stabile su tutti i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Weisfeiler-Lehman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Ha raggiunto le migliori accuratezze complessive (3/5 dataset)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Computazionalmente</a:t>
            </a:r>
            <a:r>
              <a:rPr lang="it-IT" dirty="0"/>
              <a:t> più oneroso su grafi di grandi dimensioni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La famiglia dei kernel Weisfeiler–Lehman offre un ottimo compromesso tra efficienza e accuratezza; subtree kernel ideale per grandi dataset, mentre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adatto quando si vuole massimizzare l’accuratezza su grafi di dimensioni contenute.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A4A628-6D03-9961-EC03-DE3B96CE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0822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F7A9A8-73F6-D31E-0725-A0C4DFD2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Conclusioni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35EEA8-DAF3-FBA3-53D2-1DAA4318F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ED7AFB-833C-46EB-7433-61F1DA0B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288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FC433C-F500-74AB-01F6-F6429BB2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A3BBBF-1CCE-0DAD-810D-7ACD18CD6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Abbiamo definito modi per costruire </a:t>
            </a:r>
            <a:r>
              <a:rPr lang="it-IT" dirty="0" err="1"/>
              <a:t>graph</a:t>
            </a:r>
            <a:r>
              <a:rPr lang="it-IT" dirty="0"/>
              <a:t> kernel su grafi con nodi etichettati e non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Tra le istanze di questo framework il subtree kernel unisce scalabilità ed efficacia nell’uso delle etichette dei nodi.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 kernel studiati dagli autori risultano competitivi in accuratezza rispetto ai metodi più avanzati, raggiungendo la migliore precisione su 4 dei 5 dataset testati.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Inoltre il tempo di esecuzione su grafi grandi risulta minore rispetto ai metodi più efficienti basati su random </a:t>
            </a:r>
            <a:r>
              <a:rPr lang="it-IT" dirty="0" err="1"/>
              <a:t>walk</a:t>
            </a:r>
            <a:r>
              <a:rPr lang="it-IT" dirty="0"/>
              <a:t> e </a:t>
            </a:r>
            <a:r>
              <a:rPr lang="it-IT" dirty="0" err="1"/>
              <a:t>graphlet</a:t>
            </a:r>
            <a:r>
              <a:rPr lang="it-IT" dirty="0"/>
              <a:t> kernels.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Una possibile direzione futura sarà sviluppare kernel efficienti anche per grafi con etichette continue o ad alta dimensionalità.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01F5C3-92CD-5BB5-2A23-FB11CA37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7163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72058</TotalTime>
  <Words>2345</Words>
  <Application>Microsoft Office PowerPoint</Application>
  <PresentationFormat>Widescreen</PresentationFormat>
  <Paragraphs>225</Paragraphs>
  <Slides>35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35</vt:i4>
      </vt:variant>
    </vt:vector>
  </HeadingPairs>
  <TitlesOfParts>
    <vt:vector size="42" baseType="lpstr">
      <vt:lpstr>Aptos</vt:lpstr>
      <vt:lpstr>Arial</vt:lpstr>
      <vt:lpstr>Calibri</vt:lpstr>
      <vt:lpstr>Calibri Light</vt:lpstr>
      <vt:lpstr>Cambria Math</vt:lpstr>
      <vt:lpstr>Wingdings</vt:lpstr>
      <vt:lpstr>Retrospettivo</vt:lpstr>
      <vt:lpstr>WEISFEILER-LEHMAN GRAPH KERNELS</vt:lpstr>
      <vt:lpstr>Indice</vt:lpstr>
      <vt:lpstr>Introduzione</vt:lpstr>
      <vt:lpstr>Introduzione</vt:lpstr>
      <vt:lpstr>Introduzione: misure di similarità</vt:lpstr>
      <vt:lpstr>Introduzione: misure di similarità (graph kernels)</vt:lpstr>
      <vt:lpstr>Introduzione: graph kernels </vt:lpstr>
      <vt:lpstr>Introduzione: graph kernels</vt:lpstr>
      <vt:lpstr>Weisfeiler-Lehman isomorphism test</vt:lpstr>
      <vt:lpstr>Algoritmo di Weisfeiler-Lehman per isomorfismo</vt:lpstr>
      <vt:lpstr>Pseudo-codice</vt:lpstr>
      <vt:lpstr>Esecuzione algoritmo</vt:lpstr>
      <vt:lpstr>Osservazioni sull’algoritmo</vt:lpstr>
      <vt:lpstr>General Weisfeiler-Lehman kernels</vt:lpstr>
      <vt:lpstr>Weisfeiler-Lehman kernel framework</vt:lpstr>
      <vt:lpstr>Weisfeiler-Lehman kernel framework</vt:lpstr>
      <vt:lpstr>Weisfeiler-Lehman subtree kernel</vt:lpstr>
      <vt:lpstr>Risultato W-L subtree kernel</vt:lpstr>
      <vt:lpstr>Weisfeiler-Lehman subtree kernel</vt:lpstr>
      <vt:lpstr>Weisfeiler-Lehman subtree kernel su N grafi</vt:lpstr>
      <vt:lpstr>Weisfeiler-Lehman subtree kernel su N grafi</vt:lpstr>
      <vt:lpstr>Ramon-Gartner subtree kernel</vt:lpstr>
      <vt:lpstr>Relazione con W-L subtree kernel</vt:lpstr>
      <vt:lpstr>Relazione con W-L subtree kernel</vt:lpstr>
      <vt:lpstr>Weisfeiler-Lehman shortest-path kernel</vt:lpstr>
      <vt:lpstr>Weisfeiler-Lehman shortest-path kernel (complessità)</vt:lpstr>
      <vt:lpstr>Sperimentazioni</vt:lpstr>
      <vt:lpstr>Runtime of Weisfeiler-Lehman subtree kernel (setup)</vt:lpstr>
      <vt:lpstr>Runtime of Weisfeiler-Lehman subtree kernel (risultati)</vt:lpstr>
      <vt:lpstr>Graph classification (dataset)</vt:lpstr>
      <vt:lpstr>Graph classification (setup)</vt:lpstr>
      <vt:lpstr>Graph classification (risultati)</vt:lpstr>
      <vt:lpstr>Graph classification (sintesi risultati)</vt:lpstr>
      <vt:lpstr>Conclusioni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&amp; Lucky13</dc:title>
  <dc:creator>Cristiano Roman</dc:creator>
  <cp:lastModifiedBy>Cristiano Roman</cp:lastModifiedBy>
  <cp:revision>153</cp:revision>
  <dcterms:created xsi:type="dcterms:W3CDTF">2024-11-30T18:59:40Z</dcterms:created>
  <dcterms:modified xsi:type="dcterms:W3CDTF">2026-07-08T07:21:20Z</dcterms:modified>
</cp:coreProperties>
</file>